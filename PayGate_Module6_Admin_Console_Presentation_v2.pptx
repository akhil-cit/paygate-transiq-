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handoutMasterIdLst>
    <p:handoutMasterId r:id="rId10"/>
  </p:handout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1112" autoAdjust="0"/>
  </p:normalViewPr>
  <p:slideViewPr>
    <p:cSldViewPr snapToGrid="0" snapToObjects="1">
      <p:cViewPr>
        <p:scale>
          <a:sx n="75" d="100"/>
          <a:sy n="75" d="100"/>
        </p:scale>
        <p:origin x="946" y="43"/>
      </p:cViewPr>
      <p:guideLst>
        <p:guide orient="horz" pos="2160"/>
        <p:guide pos="2880"/>
      </p:guideLst>
    </p:cSldViewPr>
  </p:slideViewPr>
  <p:notesTextViewPr>
    <p:cViewPr>
      <p:scale>
        <a:sx n="100" d="100"/>
        <a:sy n="100" d="100"/>
      </p:scale>
      <p:origin x="0" y="0"/>
    </p:cViewPr>
  </p:notesTextViewPr>
  <p:notesViewPr>
    <p:cSldViewPr snapToGrid="0" snapToObjects="1">
      <p:cViewPr varScale="1">
        <p:scale>
          <a:sx n="70" d="100"/>
          <a:sy n="70" d="100"/>
        </p:scale>
        <p:origin x="3048"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2CF5B3E-5E43-4E0C-A982-0F39F6C3992C}" type="datetimeFigureOut">
              <a:rPr lang="en-US" smtClean="0"/>
              <a:t>10/7/2026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5BEAD61-5BD2-4540-8D42-02847558B4F6}" type="slidenum">
              <a:rPr lang="en-US" smtClean="0"/>
              <a:t>‹#›</a:t>
            </a:fld>
            <a:endParaRPr lang="en-US"/>
          </a:p>
        </p:txBody>
      </p:sp>
    </p:spTree>
    <p:extLst>
      <p:ext uri="{BB962C8B-B14F-4D97-AF65-F5344CB8AC3E}">
        <p14:creationId xmlns:p14="http://schemas.microsoft.com/office/powerpoint/2010/main" val="16842871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454595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Good morning respected evaluators. As part of our team's </a:t>
            </a:r>
            <a:r>
              <a:rPr dirty="0" err="1"/>
              <a:t>PayGate</a:t>
            </a:r>
            <a:r>
              <a:rPr dirty="0"/>
              <a:t> presentation, I am presenting Module 6: The Admin Operations, Monitoring &amp; Error Audit Console.</a:t>
            </a:r>
          </a:p>
          <a:p>
            <a:endParaRPr dirty="0"/>
          </a:p>
          <a:p>
            <a:r>
              <a:rPr dirty="0"/>
              <a:t>In </a:t>
            </a:r>
            <a:r>
              <a:rPr dirty="0" err="1"/>
              <a:t>PayGate</a:t>
            </a:r>
            <a:r>
              <a:rPr dirty="0"/>
              <a:t>, operational visibility is not optional—it is a regulatory and technical necessity. Without centralized oversight, transaction failures caused by core banking timeouts or frozen accounts can be silently dropped, leaving customer funds in an ambiguous state. The </a:t>
            </a:r>
            <a:r>
              <a:rPr dirty="0" err="1"/>
              <a:t>PayGate</a:t>
            </a:r>
            <a:r>
              <a:rPr dirty="0"/>
              <a:t> Admin Console acts as the operational nerve center, providing end-to-end telemetry, real-time error triage, and immediate kill-switch intervention under a zero-trust RBAC architecture.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 showcases the PayGate Admin Dashboard. On the left is the exact Form 5 layout from our project documentation. The interface aggregates four vital telemetry streams:</a:t>
            </a:r>
          </a:p>
          <a:p>
            <a:r>
              <a:t>First, system-wide transaction volume and settled value in INR from GET /api/admin/stats.</a:t>
            </a:r>
          </a:p>
          <a:p>
            <a:r>
              <a:t>Second, real-time success rate analytics, allowing operators to detect anomalies before users report them.</a:t>
            </a:r>
          </a:p>
          <a:p>
            <a:r>
              <a:t>Third, an active pending transactions counter showing in-flight transfers awaiting bank acknowledgments.</a:t>
            </a:r>
          </a:p>
          <a:p>
            <a:r>
              <a:t>And fourth, real-time system health telemetry polled every 10 seconds via /health, monitoring MongoDB ping latency, heap memory, and process uptime.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Slide 3, we examine how administrators inspect the transaction ledger in PayGate. The system stores all operations in MongoDB's transactions collection with high indexing. Administrators can filter by unique reference code generated with timestamps and UUIDs, inspect amounts and terminal states, trace whether the transfer occurred via Wallet or IMPS, and immediately inspect the failure reason. This complete visibility ensures zero ambiguity when auditing transaction disputes.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4 details the Error Telemetry Pipeline in PayGate. Notice the sequential flowchart: When a transaction debit fails, a Mongoose post-save hook on the Transaction model automatically captures the failure reason, maps it to a severity tier, and creates an ErrorLog document in MongoDB. The schema shown below includes all 7 documented fields: transactionId, errorCode, severity, message, and the resolution boolean. Administrators inspect errors via GET /api/admin/errors and resolve them with PATCH /api/admin/errors/:id/resolve, guaranteeing end-to-end incident auditability.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5 outlines the four documented error severity tiers in PayGate: CRITICAL, HIGH, MEDIUM, and LOW. In our codebase, the Mongoose post-save hook explicitly maps failure reasons: BANK_TIMEOUT and AUTH_FAILED are flagged as CRITICAL because partner connectivity is affected. INSUFFICIENT_FUNDS, FROZEN_WALLET, and DUPLICATE_TXN are categorized as HIGH because they involve account balance integrity and fraud prevention. MEDIUM handles account and limit mismatches, while LOW records informational warnings.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6 covers Pending Transaction Resolution and Operational Recovery in PayGate. Transactions in 'pending' status represent in-flight payments awaiting clearing from partner banks. The Admin Console features a 30-minute TTL timeout monitor. If bank clearing is delayed, the administrator can perform two documented actions in our codebase: First, 'Force Settlement' via PATCH /api/admin/transactions/:id/force-success to transition the payment to 'success' once cleared out-of-band. Or second, 'Force Failure' via PATCH /api/admin/transactions/:id/force-fail to prevent indefinite hangs and release customer funds. Additionally, the administrator can trigger an immediate wallet security freeze via PATCH /api/admin/users/:id/freeze if fraud is suspected.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conclusion, Module 6 fulfills the crucial operational and audit requirements of PayGate. It provides real-time visibility, rigorous auditability, automated error traceability, decisive operational control via wallet freeze triggers, and active recovery support for pending transfers. This ensures that PayGate operates not just as a consumer payment wallet, but as an enterprise-grade, fault-tolerant financial settlement gateway. Thank you, and I now welcome any questions regarding Module 6.</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10/7/2026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10/7/2026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latin typeface="Arial"/>
              </a:defRPr>
            </a:pPr>
            <a:r>
              <a:t>MODULE 06 — ADMIN OPERATIONS, MONITORING &amp; ERROR AUDIT CONSOLE</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111827"/>
                </a:solidFill>
                <a:latin typeface="Arial"/>
              </a:defRPr>
            </a:pPr>
            <a:r>
              <a:t>Operational Visibility &amp; System Governance</a:t>
            </a:r>
          </a:p>
        </p:txBody>
      </p:sp>
      <p:sp>
        <p:nvSpPr>
          <p:cNvPr id="5" name="Rectangle 4"/>
          <p:cNvSpPr/>
          <p:nvPr/>
        </p:nvSpPr>
        <p:spPr>
          <a:xfrm>
            <a:off x="731520" y="1298448"/>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640080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6446520"/>
            <a:ext cx="4276812" cy="276999"/>
          </a:xfrm>
          <a:prstGeom prst="rect">
            <a:avLst/>
          </a:prstGeom>
          <a:noFill/>
        </p:spPr>
        <p:txBody>
          <a:bodyPr wrap="none" lIns="0" tIns="0" rIns="0" bIns="0">
            <a:spAutoFit/>
          </a:bodyPr>
          <a:lstStyle/>
          <a:p>
            <a:pPr>
              <a:defRPr sz="900">
                <a:solidFill>
                  <a:srgbClr val="475569"/>
                </a:solidFill>
                <a:latin typeface="Arial"/>
              </a:defRPr>
            </a:pPr>
            <a:endParaRPr lang="en-US" dirty="0" smtClean="0"/>
          </a:p>
          <a:p>
            <a:pPr>
              <a:defRPr sz="900">
                <a:solidFill>
                  <a:srgbClr val="475569"/>
                </a:solidFill>
                <a:latin typeface="Arial"/>
              </a:defRPr>
            </a:pPr>
            <a:r>
              <a:rPr dirty="0" err="1" smtClean="0"/>
              <a:t>PayGate</a:t>
            </a:r>
            <a:r>
              <a:rPr dirty="0" smtClean="0"/>
              <a:t> · Academic Project Evaluation · Module 6: Admin Operations &amp; Error Audit</a:t>
            </a:r>
            <a:endParaRPr dirty="0"/>
          </a:p>
        </p:txBody>
      </p:sp>
      <p:sp>
        <p:nvSpPr>
          <p:cNvPr id="9" name="Rounded Rectangle 8"/>
          <p:cNvSpPr/>
          <p:nvPr/>
        </p:nvSpPr>
        <p:spPr>
          <a:xfrm>
            <a:off x="731520" y="1645920"/>
            <a:ext cx="3413455" cy="4480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53143" y="1440180"/>
            <a:ext cx="3413455" cy="109728"/>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05840" y="1965960"/>
            <a:ext cx="2864815" cy="3931920"/>
          </a:xfrm>
          <a:prstGeom prst="rect">
            <a:avLst/>
          </a:prstGeom>
          <a:noFill/>
        </p:spPr>
        <p:txBody>
          <a:bodyPr wrap="square" lIns="0" tIns="0" rIns="0" bIns="0">
            <a:spAutoFit/>
          </a:bodyPr>
          <a:lstStyle/>
          <a:p>
            <a:pPr>
              <a:defRPr sz="950" b="1">
                <a:solidFill>
                  <a:srgbClr val="1E3A8A"/>
                </a:solidFill>
              </a:defRPr>
            </a:pPr>
            <a:r>
              <a:t>MISSION-CRITICAL OVERSIGHT</a:t>
            </a:r>
          </a:p>
          <a:p>
            <a:pPr>
              <a:spcAft>
                <a:spcPts val="1400"/>
              </a:spcAft>
              <a:defRPr sz="1400" b="1">
                <a:solidFill>
                  <a:srgbClr val="111827"/>
                </a:solidFill>
              </a:defRPr>
            </a:pPr>
            <a:r>
              <a:t>Why Administrators Require Visibility</a:t>
            </a:r>
          </a:p>
          <a:p>
            <a:pPr>
              <a:lnSpc>
                <a:spcPct val="115000"/>
              </a:lnSpc>
              <a:spcAft>
                <a:spcPts val="1000"/>
              </a:spcAft>
              <a:defRPr sz="1050">
                <a:solidFill>
                  <a:srgbClr val="475569"/>
                </a:solidFill>
              </a:defRPr>
            </a:pPr>
            <a:r>
              <a:t>•  PayGate processes non-reversible fund movements requiring continuous runtime scrutiny.</a:t>
            </a:r>
          </a:p>
          <a:p>
            <a:pPr>
              <a:lnSpc>
                <a:spcPct val="115000"/>
              </a:lnSpc>
              <a:spcAft>
                <a:spcPts val="1000"/>
              </a:spcAft>
              <a:defRPr sz="1050">
                <a:solidFill>
                  <a:srgbClr val="475569"/>
                </a:solidFill>
              </a:defRPr>
            </a:pPr>
            <a:r>
              <a:t>•  Prevents silent transaction drop-offs where network or bank partner timeouts leave transfers unconfirmed.</a:t>
            </a:r>
          </a:p>
          <a:p>
            <a:pPr>
              <a:lnSpc>
                <a:spcPct val="115000"/>
              </a:lnSpc>
              <a:spcAft>
                <a:spcPts val="1000"/>
              </a:spcAft>
              <a:defRPr sz="1050">
                <a:solidFill>
                  <a:srgbClr val="475569"/>
                </a:solidFill>
              </a:defRPr>
            </a:pPr>
            <a:r>
              <a:t>•  Protects customer trust by guaranteeing rapid reconciliation of trapped balances.</a:t>
            </a:r>
          </a:p>
        </p:txBody>
      </p:sp>
      <p:sp>
        <p:nvSpPr>
          <p:cNvPr id="12" name="Rounded Rectangle 11"/>
          <p:cNvSpPr/>
          <p:nvPr/>
        </p:nvSpPr>
        <p:spPr>
          <a:xfrm>
            <a:off x="4389120" y="1645920"/>
            <a:ext cx="3413455" cy="4480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74032" y="1444099"/>
            <a:ext cx="3413455" cy="109728"/>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63440" y="1965960"/>
            <a:ext cx="2864815" cy="3931920"/>
          </a:xfrm>
          <a:prstGeom prst="rect">
            <a:avLst/>
          </a:prstGeom>
          <a:noFill/>
        </p:spPr>
        <p:txBody>
          <a:bodyPr wrap="square" lIns="0" tIns="0" rIns="0" bIns="0">
            <a:spAutoFit/>
          </a:bodyPr>
          <a:lstStyle/>
          <a:p>
            <a:pPr>
              <a:defRPr sz="950" b="1">
                <a:solidFill>
                  <a:srgbClr val="2563EB"/>
                </a:solidFill>
              </a:defRPr>
            </a:pPr>
            <a:r>
              <a:t>OPERATIONAL CONTROL SCOPE</a:t>
            </a:r>
          </a:p>
          <a:p>
            <a:pPr>
              <a:spcAft>
                <a:spcPts val="1400"/>
              </a:spcAft>
              <a:defRPr sz="1400" b="1">
                <a:solidFill>
                  <a:srgbClr val="111827"/>
                </a:solidFill>
              </a:defRPr>
            </a:pPr>
            <a:r>
              <a:t>Core Administrative Responsibilities</a:t>
            </a:r>
          </a:p>
          <a:p>
            <a:pPr>
              <a:lnSpc>
                <a:spcPct val="115000"/>
              </a:lnSpc>
              <a:spcAft>
                <a:spcPts val="1000"/>
              </a:spcAft>
              <a:defRPr sz="1050">
                <a:solidFill>
                  <a:srgbClr val="475569"/>
                </a:solidFill>
              </a:defRPr>
            </a:pPr>
            <a:r>
              <a:t>•  Platform Telemetry: Continuous monitoring of gateway uptime and MongoDB database connectivity.</a:t>
            </a:r>
          </a:p>
          <a:p>
            <a:pPr>
              <a:lnSpc>
                <a:spcPct val="115000"/>
              </a:lnSpc>
              <a:spcAft>
                <a:spcPts val="1000"/>
              </a:spcAft>
              <a:defRPr sz="1050">
                <a:solidFill>
                  <a:srgbClr val="475569"/>
                </a:solidFill>
              </a:defRPr>
            </a:pPr>
            <a:r>
              <a:t>•  Failure Interception: Real-time triage of high-severity exceptions before customer escalation.</a:t>
            </a:r>
          </a:p>
          <a:p>
            <a:pPr>
              <a:lnSpc>
                <a:spcPct val="115000"/>
              </a:lnSpc>
              <a:spcAft>
                <a:spcPts val="1000"/>
              </a:spcAft>
              <a:defRPr sz="1050">
                <a:solidFill>
                  <a:srgbClr val="475569"/>
                </a:solidFill>
              </a:defRPr>
            </a:pPr>
            <a:r>
              <a:t>•  Administrative Kill-Switch: Immediate security freeze enforcement on suspicious or compromised wallets.</a:t>
            </a:r>
          </a:p>
        </p:txBody>
      </p:sp>
      <p:sp>
        <p:nvSpPr>
          <p:cNvPr id="15" name="Rounded Rectangle 14"/>
          <p:cNvSpPr/>
          <p:nvPr/>
        </p:nvSpPr>
        <p:spPr>
          <a:xfrm>
            <a:off x="8046720" y="1645920"/>
            <a:ext cx="3413455" cy="4480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929459" y="1442575"/>
            <a:ext cx="3413455" cy="109728"/>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21040" y="1965960"/>
            <a:ext cx="2864815" cy="3931920"/>
          </a:xfrm>
          <a:prstGeom prst="rect">
            <a:avLst/>
          </a:prstGeom>
          <a:noFill/>
        </p:spPr>
        <p:txBody>
          <a:bodyPr wrap="square" lIns="0" tIns="0" rIns="0" bIns="0">
            <a:spAutoFit/>
          </a:bodyPr>
          <a:lstStyle/>
          <a:p>
            <a:pPr>
              <a:defRPr sz="950" b="1">
                <a:solidFill>
                  <a:srgbClr val="0D9488"/>
                </a:solidFill>
              </a:defRPr>
            </a:pPr>
            <a:r>
              <a:t>STRICT ROLE-BASED BOUNDARY</a:t>
            </a:r>
          </a:p>
          <a:p>
            <a:pPr>
              <a:spcAft>
                <a:spcPts val="1400"/>
              </a:spcAft>
              <a:defRPr sz="1400" b="1">
                <a:solidFill>
                  <a:srgbClr val="111827"/>
                </a:solidFill>
              </a:defRPr>
            </a:pPr>
            <a:r>
              <a:t>Zero-Trust Architecture Role</a:t>
            </a:r>
          </a:p>
          <a:p>
            <a:pPr>
              <a:lnSpc>
                <a:spcPct val="115000"/>
              </a:lnSpc>
              <a:spcAft>
                <a:spcPts val="1000"/>
              </a:spcAft>
              <a:defRPr sz="1050">
                <a:solidFill>
                  <a:srgbClr val="475569"/>
                </a:solidFill>
              </a:defRPr>
            </a:pPr>
            <a:r>
              <a:t>•  Enforces strict RBAC separation: Customers are physically restricted from administrative telemetry routes.</a:t>
            </a:r>
          </a:p>
          <a:p>
            <a:pPr>
              <a:lnSpc>
                <a:spcPct val="115000"/>
              </a:lnSpc>
              <a:spcAft>
                <a:spcPts val="1000"/>
              </a:spcAft>
              <a:defRPr sz="1050">
                <a:solidFill>
                  <a:srgbClr val="475569"/>
                </a:solidFill>
              </a:defRPr>
            </a:pPr>
            <a:r>
              <a:t>•  Synchronous route interception via auth and adminOnly middleware prevents unauthorized access.</a:t>
            </a:r>
          </a:p>
          <a:p>
            <a:pPr>
              <a:lnSpc>
                <a:spcPct val="115000"/>
              </a:lnSpc>
              <a:spcAft>
                <a:spcPts val="1000"/>
              </a:spcAft>
              <a:defRPr sz="1050">
                <a:solidFill>
                  <a:srgbClr val="475569"/>
                </a:solidFill>
              </a:defRPr>
            </a:pPr>
            <a:r>
              <a:t>•  Every administrative intervention is captured in immutable audit logs with resolvedBy tracking.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latin typeface="Arial"/>
              </a:defRPr>
            </a:pPr>
            <a:r>
              <a:t>MODULE 06 — ADMIN OPERATIONS, MONITORING &amp; ERROR AUDIT CONSOLE</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111827"/>
                </a:solidFill>
                <a:latin typeface="Arial"/>
              </a:defRPr>
            </a:pPr>
            <a:r>
              <a:t>Admin Dashboard Architecture &amp; Operational Console</a:t>
            </a:r>
          </a:p>
        </p:txBody>
      </p:sp>
      <p:sp>
        <p:nvSpPr>
          <p:cNvPr id="5" name="Rectangle 4"/>
          <p:cNvSpPr/>
          <p:nvPr/>
        </p:nvSpPr>
        <p:spPr>
          <a:xfrm>
            <a:off x="731520" y="1298448"/>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640080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6446520"/>
            <a:ext cx="4276812" cy="276999"/>
          </a:xfrm>
          <a:prstGeom prst="rect">
            <a:avLst/>
          </a:prstGeom>
          <a:noFill/>
        </p:spPr>
        <p:txBody>
          <a:bodyPr wrap="none" lIns="0" tIns="0" rIns="0" bIns="0">
            <a:spAutoFit/>
          </a:bodyPr>
          <a:lstStyle/>
          <a:p>
            <a:pPr>
              <a:defRPr sz="900">
                <a:solidFill>
                  <a:srgbClr val="475569"/>
                </a:solidFill>
                <a:latin typeface="Arial"/>
              </a:defRPr>
            </a:pPr>
            <a:endParaRPr lang="en-US" dirty="0"/>
          </a:p>
          <a:p>
            <a:pPr>
              <a:defRPr sz="900">
                <a:solidFill>
                  <a:srgbClr val="475569"/>
                </a:solidFill>
                <a:latin typeface="Arial"/>
              </a:defRPr>
            </a:pPr>
            <a:r>
              <a:rPr lang="en-US" dirty="0" err="1"/>
              <a:t>PayGate</a:t>
            </a:r>
            <a:r>
              <a:rPr lang="en-US" dirty="0"/>
              <a:t> · Academic Project Evaluation · Module 6: Admin Operations &amp; Error Audit</a:t>
            </a:r>
          </a:p>
        </p:txBody>
      </p:sp>
      <p:sp>
        <p:nvSpPr>
          <p:cNvPr id="9" name="Rounded Rectangle 8"/>
          <p:cNvSpPr/>
          <p:nvPr/>
        </p:nvSpPr>
        <p:spPr>
          <a:xfrm>
            <a:off x="731520" y="1645920"/>
            <a:ext cx="5486400" cy="4480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60120" y="1783080"/>
            <a:ext cx="5029200" cy="353943"/>
          </a:xfrm>
          <a:prstGeom prst="rect">
            <a:avLst/>
          </a:prstGeom>
          <a:noFill/>
        </p:spPr>
        <p:txBody>
          <a:bodyPr wrap="square" lIns="0" tIns="0" rIns="0" bIns="0">
            <a:spAutoFit/>
          </a:bodyPr>
          <a:lstStyle/>
          <a:p>
            <a:pPr algn="ctr">
              <a:defRPr sz="1000" b="1">
                <a:solidFill>
                  <a:srgbClr val="2563EB"/>
                </a:solidFill>
              </a:defRPr>
            </a:pPr>
            <a:r>
              <a:rPr smtClean="0"/>
              <a:t>ADMIN </a:t>
            </a:r>
            <a:r>
              <a:rPr dirty="0"/>
              <a:t>CONSOLE UI SPECIFICATION (FORM 5)</a:t>
            </a:r>
          </a:p>
          <a:p>
            <a:pPr algn="ctr">
              <a:spcAft>
                <a:spcPts val="1000"/>
              </a:spcAft>
              <a:defRPr sz="1300" b="1">
                <a:solidFill>
                  <a:srgbClr val="111827"/>
                </a:solidFill>
              </a:defRPr>
            </a:pPr>
            <a:r>
              <a:rPr dirty="0"/>
              <a:t>Documented Console Wireframe &amp; Telemetry Layout</a:t>
            </a:r>
          </a:p>
        </p:txBody>
      </p:sp>
      <p:sp>
        <p:nvSpPr>
          <p:cNvPr id="11" name="Rectangle 10"/>
          <p:cNvSpPr/>
          <p:nvPr/>
        </p:nvSpPr>
        <p:spPr>
          <a:xfrm>
            <a:off x="960120" y="2468880"/>
            <a:ext cx="5029200" cy="3429000"/>
          </a:xfrm>
          <a:prstGeom prst="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97280" y="2560320"/>
            <a:ext cx="4754880" cy="2877711"/>
          </a:xfrm>
          <a:prstGeom prst="rect">
            <a:avLst/>
          </a:prstGeom>
          <a:noFill/>
        </p:spPr>
        <p:txBody>
          <a:bodyPr wrap="square" lIns="0" tIns="0" rIns="0" bIns="0">
            <a:spAutoFit/>
          </a:bodyPr>
          <a:lstStyle/>
          <a:p>
            <a:pPr>
              <a:defRPr sz="850">
                <a:solidFill>
                  <a:srgbClr val="111827"/>
                </a:solidFill>
                <a:latin typeface="Consolas"/>
              </a:defRPr>
            </a:pPr>
            <a:r>
              <a:rPr lang="en-US" dirty="0"/>
              <a:t>+------------------------------------------------------------------------------+</a:t>
            </a:r>
          </a:p>
          <a:p>
            <a:pPr>
              <a:defRPr sz="850">
                <a:solidFill>
                  <a:srgbClr val="111827"/>
                </a:solidFill>
                <a:latin typeface="Consolas"/>
              </a:defRPr>
            </a:pPr>
            <a:r>
              <a:rPr lang="en-US" dirty="0"/>
              <a:t>| PAYGATE ADMIN OPERATIONS CONSOLE                                             |</a:t>
            </a:r>
          </a:p>
          <a:p>
            <a:pPr>
              <a:defRPr sz="850">
                <a:solidFill>
                  <a:srgbClr val="111827"/>
                </a:solidFill>
                <a:latin typeface="Consolas"/>
              </a:defRPr>
            </a:pPr>
            <a:r>
              <a:rPr lang="en-US" dirty="0"/>
              <a:t>| Telemetry: Live (Active) | Success Rate: 98.4% | Errors: 1                  |</a:t>
            </a:r>
          </a:p>
          <a:p>
            <a:pPr>
              <a:defRPr sz="850">
                <a:solidFill>
                  <a:srgbClr val="111827"/>
                </a:solidFill>
                <a:latin typeface="Consolas"/>
              </a:defRPr>
            </a:pPr>
            <a:r>
              <a:rPr lang="en-US" dirty="0"/>
              <a:t>+------------------------------------------------------------------------------+</a:t>
            </a:r>
          </a:p>
          <a:p>
            <a:pPr>
              <a:defRPr sz="850">
                <a:solidFill>
                  <a:srgbClr val="111827"/>
                </a:solidFill>
                <a:latin typeface="Consolas"/>
              </a:defRPr>
            </a:pPr>
            <a:r>
              <a:rPr lang="en-US" dirty="0"/>
              <a:t>| HIGH SEVERITY ERROR TELEMETRY                                                |</a:t>
            </a:r>
          </a:p>
          <a:p>
            <a:pPr>
              <a:defRPr sz="850">
                <a:solidFill>
                  <a:srgbClr val="111827"/>
                </a:solidFill>
                <a:latin typeface="Consolas"/>
              </a:defRPr>
            </a:pPr>
            <a:r>
              <a:rPr lang="en-US" dirty="0"/>
              <a:t>|                                                                              |</a:t>
            </a:r>
          </a:p>
          <a:p>
            <a:pPr>
              <a:defRPr sz="850">
                <a:solidFill>
                  <a:srgbClr val="111827"/>
                </a:solidFill>
                <a:latin typeface="Consolas"/>
              </a:defRPr>
            </a:pPr>
            <a:r>
              <a:rPr lang="en-US" dirty="0"/>
              <a:t>| +--------------------------------------------------------------------------+ |</a:t>
            </a:r>
          </a:p>
          <a:p>
            <a:pPr>
              <a:defRPr sz="850">
                <a:solidFill>
                  <a:srgbClr val="111827"/>
                </a:solidFill>
                <a:latin typeface="Consolas"/>
              </a:defRPr>
            </a:pPr>
            <a:r>
              <a:rPr lang="en-US" dirty="0"/>
              <a:t>| | Incident: ERR-9281 | Severity: HIGH                                     | |</a:t>
            </a:r>
          </a:p>
          <a:p>
            <a:pPr>
              <a:defRPr sz="850">
                <a:solidFill>
                  <a:srgbClr val="111827"/>
                </a:solidFill>
                <a:latin typeface="Consolas"/>
              </a:defRPr>
            </a:pPr>
            <a:r>
              <a:rPr lang="en-US" dirty="0"/>
              <a:t>| | Code: INSUFFICIENT_FUNDS | Affected: TXN-171829011                      | |</a:t>
            </a:r>
          </a:p>
          <a:p>
            <a:pPr>
              <a:defRPr sz="850">
                <a:solidFill>
                  <a:srgbClr val="111827"/>
                </a:solidFill>
                <a:latin typeface="Consolas"/>
              </a:defRPr>
            </a:pPr>
            <a:r>
              <a:rPr lang="en-US" dirty="0"/>
              <a:t>| | Message: Requested ₹50,000 exceeding balance ₹10,000                    | |</a:t>
            </a:r>
          </a:p>
          <a:p>
            <a:pPr>
              <a:defRPr sz="850">
                <a:solidFill>
                  <a:srgbClr val="111827"/>
                </a:solidFill>
                <a:latin typeface="Consolas"/>
              </a:defRPr>
            </a:pPr>
            <a:r>
              <a:rPr lang="en-US" dirty="0"/>
              <a:t>| | Status: [ Unresolved ]                              [ Mark Resolved ]   | |</a:t>
            </a:r>
          </a:p>
          <a:p>
            <a:pPr>
              <a:defRPr sz="850">
                <a:solidFill>
                  <a:srgbClr val="111827"/>
                </a:solidFill>
                <a:latin typeface="Consolas"/>
              </a:defRPr>
            </a:pPr>
            <a:r>
              <a:rPr lang="en-US" dirty="0"/>
              <a:t>| +--------------------------------------------------------------------------+ |</a:t>
            </a:r>
          </a:p>
          <a:p>
            <a:pPr>
              <a:defRPr sz="850">
                <a:solidFill>
                  <a:srgbClr val="111827"/>
                </a:solidFill>
                <a:latin typeface="Consolas"/>
              </a:defRPr>
            </a:pPr>
            <a:r>
              <a:rPr lang="en-US" dirty="0"/>
              <a:t>|                                                                              |</a:t>
            </a:r>
          </a:p>
          <a:p>
            <a:pPr>
              <a:defRPr sz="850">
                <a:solidFill>
                  <a:srgbClr val="111827"/>
                </a:solidFill>
                <a:latin typeface="Consolas"/>
              </a:defRPr>
            </a:pPr>
            <a:r>
              <a:rPr lang="en-US" dirty="0"/>
              <a:t>|                                                                              |</a:t>
            </a:r>
          </a:p>
          <a:p>
            <a:pPr>
              <a:defRPr sz="850">
                <a:solidFill>
                  <a:srgbClr val="111827"/>
                </a:solidFill>
                <a:latin typeface="Consolas"/>
              </a:defRPr>
            </a:pPr>
            <a:r>
              <a:rPr lang="en-US" dirty="0"/>
              <a:t>|                                                                              |</a:t>
            </a:r>
          </a:p>
          <a:p>
            <a:pPr>
              <a:defRPr sz="850">
                <a:solidFill>
                  <a:srgbClr val="111827"/>
                </a:solidFill>
                <a:latin typeface="Consolas"/>
              </a:defRPr>
            </a:pPr>
            <a:r>
              <a:rPr lang="en-US" dirty="0"/>
              <a:t>|                                                                              |</a:t>
            </a:r>
          </a:p>
          <a:p>
            <a:pPr>
              <a:defRPr sz="850">
                <a:solidFill>
                  <a:srgbClr val="111827"/>
                </a:solidFill>
                <a:latin typeface="Consolas"/>
              </a:defRPr>
            </a:pPr>
            <a:r>
              <a:rPr lang="en-US" dirty="0"/>
              <a:t>|                                                                              |</a:t>
            </a:r>
          </a:p>
          <a:p>
            <a:pPr>
              <a:defRPr sz="850">
                <a:solidFill>
                  <a:srgbClr val="111827"/>
                </a:solidFill>
                <a:latin typeface="Consolas"/>
              </a:defRPr>
            </a:pPr>
            <a:r>
              <a:rPr lang="en-US" dirty="0"/>
              <a:t>|                                                                              |</a:t>
            </a:r>
          </a:p>
          <a:p>
            <a:pPr>
              <a:defRPr sz="850">
                <a:solidFill>
                  <a:srgbClr val="111827"/>
                </a:solidFill>
                <a:latin typeface="Consolas"/>
              </a:defRPr>
            </a:pPr>
            <a:r>
              <a:rPr lang="en-US" dirty="0"/>
              <a:t>|                                                                              |</a:t>
            </a:r>
          </a:p>
          <a:p>
            <a:pPr>
              <a:defRPr sz="850">
                <a:solidFill>
                  <a:srgbClr val="111827"/>
                </a:solidFill>
                <a:latin typeface="Consolas"/>
              </a:defRPr>
            </a:pPr>
            <a:r>
              <a:rPr lang="en-US" dirty="0"/>
              <a:t>|                                                                              |</a:t>
            </a:r>
          </a:p>
          <a:p>
            <a:pPr>
              <a:defRPr sz="850">
                <a:solidFill>
                  <a:srgbClr val="111827"/>
                </a:solidFill>
                <a:latin typeface="Consolas"/>
              </a:defRPr>
            </a:pPr>
            <a:r>
              <a:rPr lang="en-US" dirty="0"/>
              <a:t>|                                                                              |</a:t>
            </a:r>
          </a:p>
          <a:p>
            <a:pPr>
              <a:defRPr sz="850">
                <a:solidFill>
                  <a:srgbClr val="111827"/>
                </a:solidFill>
                <a:latin typeface="Consolas"/>
              </a:defRPr>
            </a:pPr>
            <a:r>
              <a:rPr lang="en-US" dirty="0"/>
              <a:t>+------------------------------------------------------------------------------+</a:t>
            </a:r>
            <a:endParaRPr dirty="0"/>
          </a:p>
        </p:txBody>
      </p:sp>
      <p:sp>
        <p:nvSpPr>
          <p:cNvPr id="13" name="Rounded Rectangle 12"/>
          <p:cNvSpPr/>
          <p:nvPr/>
        </p:nvSpPr>
        <p:spPr>
          <a:xfrm>
            <a:off x="6492240" y="1645920"/>
            <a:ext cx="4967935" cy="1024128"/>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492240" y="1645920"/>
            <a:ext cx="109728" cy="1024128"/>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748272" y="1755648"/>
            <a:ext cx="4572000" cy="822960"/>
          </a:xfrm>
          <a:prstGeom prst="rect">
            <a:avLst/>
          </a:prstGeom>
          <a:noFill/>
        </p:spPr>
        <p:txBody>
          <a:bodyPr wrap="square" lIns="0" tIns="0" rIns="0" bIns="0">
            <a:spAutoFit/>
          </a:bodyPr>
          <a:lstStyle/>
          <a:p>
            <a:pPr>
              <a:spcAft>
                <a:spcPts val="300"/>
              </a:spcAft>
              <a:defRPr sz="1150" b="1">
                <a:solidFill>
                  <a:srgbClr val="111827"/>
                </a:solidFill>
              </a:defRPr>
            </a:pPr>
            <a:r>
              <a:t>1. Transaction Volume &amp; Settled Value</a:t>
            </a:r>
          </a:p>
          <a:p>
            <a:pPr>
              <a:lnSpc>
                <a:spcPct val="115000"/>
              </a:lnSpc>
              <a:defRPr sz="950">
                <a:solidFill>
                  <a:srgbClr val="475569"/>
                </a:solidFill>
              </a:defRPr>
            </a:pPr>
            <a:r>
              <a:t>Tracks total count (completed, failed, pending) and settled volume in INR (₹) via GET /api/admin/stats.</a:t>
            </a:r>
          </a:p>
        </p:txBody>
      </p:sp>
      <p:sp>
        <p:nvSpPr>
          <p:cNvPr id="16" name="Rounded Rectangle 15"/>
          <p:cNvSpPr/>
          <p:nvPr/>
        </p:nvSpPr>
        <p:spPr>
          <a:xfrm>
            <a:off x="6492240" y="2788920"/>
            <a:ext cx="4967935" cy="1024128"/>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492240" y="2788920"/>
            <a:ext cx="109728" cy="1024128"/>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748272" y="2898648"/>
            <a:ext cx="4572000" cy="822960"/>
          </a:xfrm>
          <a:prstGeom prst="rect">
            <a:avLst/>
          </a:prstGeom>
          <a:noFill/>
        </p:spPr>
        <p:txBody>
          <a:bodyPr wrap="square" lIns="0" tIns="0" rIns="0" bIns="0">
            <a:spAutoFit/>
          </a:bodyPr>
          <a:lstStyle/>
          <a:p>
            <a:pPr>
              <a:spcAft>
                <a:spcPts val="300"/>
              </a:spcAft>
              <a:defRPr sz="1150" b="1">
                <a:solidFill>
                  <a:srgbClr val="111827"/>
                </a:solidFill>
              </a:defRPr>
            </a:pPr>
            <a:r>
              <a:t>2. Real-Time Success &amp; Failure Rates</a:t>
            </a:r>
          </a:p>
          <a:p>
            <a:pPr>
              <a:lnSpc>
                <a:spcPct val="115000"/>
              </a:lnSpc>
              <a:defRPr sz="950">
                <a:solidFill>
                  <a:srgbClr val="475569"/>
                </a:solidFill>
              </a:defRPr>
            </a:pPr>
            <a:r>
              <a:t>Computes dynamic success percentages (e.g. 98.4%) to immediately alert operators to partner banking API latency or degradation.</a:t>
            </a:r>
          </a:p>
        </p:txBody>
      </p:sp>
      <p:sp>
        <p:nvSpPr>
          <p:cNvPr id="19" name="Rounded Rectangle 18"/>
          <p:cNvSpPr/>
          <p:nvPr/>
        </p:nvSpPr>
        <p:spPr>
          <a:xfrm>
            <a:off x="6492240" y="3931920"/>
            <a:ext cx="4967935" cy="1024128"/>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492240" y="3931920"/>
            <a:ext cx="109728" cy="1024128"/>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748272" y="4041648"/>
            <a:ext cx="4572000" cy="822960"/>
          </a:xfrm>
          <a:prstGeom prst="rect">
            <a:avLst/>
          </a:prstGeom>
          <a:noFill/>
        </p:spPr>
        <p:txBody>
          <a:bodyPr wrap="square" lIns="0" tIns="0" rIns="0" bIns="0">
            <a:spAutoFit/>
          </a:bodyPr>
          <a:lstStyle/>
          <a:p>
            <a:pPr>
              <a:spcAft>
                <a:spcPts val="300"/>
              </a:spcAft>
              <a:defRPr sz="1150" b="1">
                <a:solidFill>
                  <a:srgbClr val="111827"/>
                </a:solidFill>
              </a:defRPr>
            </a:pPr>
            <a:r>
              <a:t>3. In-Flight Pending Monitor</a:t>
            </a:r>
          </a:p>
          <a:p>
            <a:pPr>
              <a:lnSpc>
                <a:spcPct val="115000"/>
              </a:lnSpc>
              <a:defRPr sz="950">
                <a:solidFill>
                  <a:srgbClr val="475569"/>
                </a:solidFill>
              </a:defRPr>
            </a:pPr>
            <a:r>
              <a:t>Isolates unresolved payments caught in gateway clearing transitions with TTL tracking (Time-To-Live up to 30 mins).</a:t>
            </a:r>
          </a:p>
        </p:txBody>
      </p:sp>
      <p:sp>
        <p:nvSpPr>
          <p:cNvPr id="22" name="Rounded Rectangle 21"/>
          <p:cNvSpPr/>
          <p:nvPr/>
        </p:nvSpPr>
        <p:spPr>
          <a:xfrm>
            <a:off x="6492240" y="5074920"/>
            <a:ext cx="4967935" cy="1024128"/>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492240" y="5074920"/>
            <a:ext cx="109728" cy="1024128"/>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748272" y="5184648"/>
            <a:ext cx="4572000" cy="822960"/>
          </a:xfrm>
          <a:prstGeom prst="rect">
            <a:avLst/>
          </a:prstGeom>
          <a:noFill/>
        </p:spPr>
        <p:txBody>
          <a:bodyPr wrap="square" lIns="0" tIns="0" rIns="0" bIns="0">
            <a:spAutoFit/>
          </a:bodyPr>
          <a:lstStyle/>
          <a:p>
            <a:pPr>
              <a:spcAft>
                <a:spcPts val="300"/>
              </a:spcAft>
              <a:defRPr sz="1150" b="1">
                <a:solidFill>
                  <a:srgbClr val="111827"/>
                </a:solidFill>
              </a:defRPr>
            </a:pPr>
            <a:r>
              <a:t>4. System Telemetry &amp; Heartbeat</a:t>
            </a:r>
          </a:p>
          <a:p>
            <a:pPr>
              <a:lnSpc>
                <a:spcPct val="115000"/>
              </a:lnSpc>
              <a:defRPr sz="950">
                <a:solidFill>
                  <a:srgbClr val="475569"/>
                </a:solidFill>
              </a:defRPr>
            </a:pPr>
            <a:r>
              <a:t>Continuous 10-second polling via /health monitoring MongoDB status, DB ping latency, memory heap usage, and active uptime.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latin typeface="Arial"/>
              </a:defRPr>
            </a:pPr>
            <a:r>
              <a:t>MODULE 06 — ADMIN OPERATIONS, MONITORING &amp; ERROR AUDIT CONSOLE</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111827"/>
                </a:solidFill>
                <a:latin typeface="Arial"/>
              </a:defRPr>
            </a:pPr>
            <a:r>
              <a:t>Comprehensive Transaction Monitoring &amp; Audit Fields</a:t>
            </a:r>
          </a:p>
        </p:txBody>
      </p:sp>
      <p:sp>
        <p:nvSpPr>
          <p:cNvPr id="5" name="Rectangle 4"/>
          <p:cNvSpPr/>
          <p:nvPr/>
        </p:nvSpPr>
        <p:spPr>
          <a:xfrm>
            <a:off x="731520" y="1298448"/>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640080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6446520"/>
            <a:ext cx="4276812" cy="276999"/>
          </a:xfrm>
          <a:prstGeom prst="rect">
            <a:avLst/>
          </a:prstGeom>
          <a:noFill/>
        </p:spPr>
        <p:txBody>
          <a:bodyPr wrap="none" lIns="0" tIns="0" rIns="0" bIns="0">
            <a:spAutoFit/>
          </a:bodyPr>
          <a:lstStyle/>
          <a:p>
            <a:pPr>
              <a:defRPr sz="900">
                <a:solidFill>
                  <a:srgbClr val="475569"/>
                </a:solidFill>
                <a:latin typeface="Arial"/>
              </a:defRPr>
            </a:pPr>
            <a:endParaRPr lang="en-US" dirty="0"/>
          </a:p>
          <a:p>
            <a:pPr>
              <a:defRPr sz="900">
                <a:solidFill>
                  <a:srgbClr val="475569"/>
                </a:solidFill>
                <a:latin typeface="Arial"/>
              </a:defRPr>
            </a:pPr>
            <a:r>
              <a:rPr lang="en-US" dirty="0" err="1"/>
              <a:t>PayGate</a:t>
            </a:r>
            <a:r>
              <a:rPr lang="en-US" dirty="0"/>
              <a:t> · Academic Project Evaluation · Module 6: Admin Operations &amp; Error Audit</a:t>
            </a:r>
          </a:p>
        </p:txBody>
      </p:sp>
      <p:sp>
        <p:nvSpPr>
          <p:cNvPr id="8" name="TextBox 7"/>
          <p:cNvSpPr txBox="1"/>
          <p:nvPr/>
        </p:nvSpPr>
        <p:spPr>
          <a:xfrm>
            <a:off x="11460111" y="6446520"/>
            <a:ext cx="64" cy="138499"/>
          </a:xfrm>
          <a:prstGeom prst="rect">
            <a:avLst/>
          </a:prstGeom>
          <a:noFill/>
        </p:spPr>
        <p:txBody>
          <a:bodyPr wrap="none" lIns="0" tIns="0" rIns="0" bIns="0">
            <a:spAutoFit/>
          </a:bodyPr>
          <a:lstStyle/>
          <a:p>
            <a:pPr algn="r">
              <a:defRPr sz="900" b="1">
                <a:solidFill>
                  <a:srgbClr val="475569"/>
                </a:solidFill>
                <a:latin typeface="Arial"/>
              </a:defRPr>
            </a:pPr>
            <a:endParaRPr dirty="0"/>
          </a:p>
        </p:txBody>
      </p:sp>
      <p:sp>
        <p:nvSpPr>
          <p:cNvPr id="9" name="Rounded Rectangle 8"/>
          <p:cNvSpPr/>
          <p:nvPr/>
        </p:nvSpPr>
        <p:spPr>
          <a:xfrm>
            <a:off x="731520" y="1600200"/>
            <a:ext cx="10728655" cy="9144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05840" y="1737360"/>
            <a:ext cx="10149840" cy="640080"/>
          </a:xfrm>
          <a:prstGeom prst="rect">
            <a:avLst/>
          </a:prstGeom>
          <a:noFill/>
        </p:spPr>
        <p:txBody>
          <a:bodyPr wrap="square" lIns="0" tIns="0" rIns="0" bIns="0">
            <a:spAutoFit/>
          </a:bodyPr>
          <a:lstStyle/>
          <a:p>
            <a:pPr>
              <a:defRPr sz="1000" b="1">
                <a:solidFill>
                  <a:srgbClr val="2563EB"/>
                </a:solidFill>
              </a:defRPr>
            </a:pPr>
            <a:r>
              <a:t>THE IMMUTABLE AUDIT LEDGER (TRANSACTIONS COLLECTION)</a:t>
            </a:r>
          </a:p>
          <a:p>
            <a:pPr>
              <a:defRPr sz="1100">
                <a:solidFill>
                  <a:srgbClr val="111827"/>
                </a:solidFill>
              </a:defRPr>
            </a:pPr>
            <a:r>
              <a:t>Administrators inspect transactions across all lifecycle states. Every record maintains cryptographic uniqueness and audit traceability.</a:t>
            </a:r>
          </a:p>
        </p:txBody>
      </p:sp>
      <p:sp>
        <p:nvSpPr>
          <p:cNvPr id="11" name="Rounded Rectangle 10"/>
          <p:cNvSpPr/>
          <p:nvPr/>
        </p:nvSpPr>
        <p:spPr>
          <a:xfrm>
            <a:off x="731520" y="2697480"/>
            <a:ext cx="2542032" cy="3429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2834640"/>
            <a:ext cx="2176272" cy="3154680"/>
          </a:xfrm>
          <a:prstGeom prst="rect">
            <a:avLst/>
          </a:prstGeom>
          <a:noFill/>
        </p:spPr>
        <p:txBody>
          <a:bodyPr wrap="square" lIns="0" tIns="0" rIns="0" bIns="0">
            <a:spAutoFit/>
          </a:bodyPr>
          <a:lstStyle/>
          <a:p>
            <a:pPr>
              <a:defRPr sz="1150" b="1">
                <a:solidFill>
                  <a:srgbClr val="111827"/>
                </a:solidFill>
              </a:defRPr>
            </a:pPr>
            <a:r>
              <a:t>1. Unique Reference Code</a:t>
            </a:r>
          </a:p>
          <a:p>
            <a:pPr>
              <a:spcAft>
                <a:spcPts val="1000"/>
              </a:spcAft>
              <a:defRPr sz="950" b="1">
                <a:solidFill>
                  <a:srgbClr val="2563EB"/>
                </a:solidFill>
              </a:defRPr>
            </a:pPr>
            <a:r>
              <a:t>Format: TXN-&lt;Timestamp&gt;-&lt;UUID&gt;</a:t>
            </a:r>
          </a:p>
          <a:p>
            <a:pPr>
              <a:lnSpc>
                <a:spcPct val="115000"/>
              </a:lnSpc>
              <a:spcAft>
                <a:spcPts val="800"/>
              </a:spcAft>
              <a:defRPr sz="950">
                <a:solidFill>
                  <a:srgbClr val="475569"/>
                </a:solidFill>
              </a:defRPr>
            </a:pPr>
            <a:r>
              <a:t>• Cryptographically unique reference code generated pre-save.</a:t>
            </a:r>
          </a:p>
          <a:p>
            <a:pPr>
              <a:lnSpc>
                <a:spcPct val="115000"/>
              </a:lnSpc>
              <a:spcAft>
                <a:spcPts val="800"/>
              </a:spcAft>
              <a:defRPr sz="950">
                <a:solidFill>
                  <a:srgbClr val="475569"/>
                </a:solidFill>
              </a:defRPr>
            </a:pPr>
            <a:r>
              <a:t>• Enables instantaneous single-record indexing and multi-party reconciliation.</a:t>
            </a:r>
          </a:p>
          <a:p>
            <a:pPr>
              <a:lnSpc>
                <a:spcPct val="115000"/>
              </a:lnSpc>
              <a:spcAft>
                <a:spcPts val="800"/>
              </a:spcAft>
              <a:defRPr sz="950">
                <a:solidFill>
                  <a:srgbClr val="475569"/>
                </a:solidFill>
              </a:defRPr>
            </a:pPr>
            <a:r>
              <a:t>• Used across customer support and banking partner dispute tickets.</a:t>
            </a:r>
          </a:p>
        </p:txBody>
      </p:sp>
      <p:sp>
        <p:nvSpPr>
          <p:cNvPr id="13" name="Rounded Rectangle 12"/>
          <p:cNvSpPr/>
          <p:nvPr/>
        </p:nvSpPr>
        <p:spPr>
          <a:xfrm>
            <a:off x="3474720" y="2697480"/>
            <a:ext cx="2542032" cy="3429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57600" y="2834640"/>
            <a:ext cx="2176272" cy="3154680"/>
          </a:xfrm>
          <a:prstGeom prst="rect">
            <a:avLst/>
          </a:prstGeom>
          <a:noFill/>
        </p:spPr>
        <p:txBody>
          <a:bodyPr wrap="square" lIns="0" tIns="0" rIns="0" bIns="0">
            <a:spAutoFit/>
          </a:bodyPr>
          <a:lstStyle/>
          <a:p>
            <a:pPr>
              <a:defRPr sz="1150" b="1">
                <a:solidFill>
                  <a:srgbClr val="111827"/>
                </a:solidFill>
              </a:defRPr>
            </a:pPr>
            <a:r>
              <a:t>2. State &amp; Amount Auditing</a:t>
            </a:r>
          </a:p>
          <a:p>
            <a:pPr>
              <a:spcAft>
                <a:spcPts val="1000"/>
              </a:spcAft>
              <a:defRPr sz="950" b="1">
                <a:solidFill>
                  <a:srgbClr val="2563EB"/>
                </a:solidFill>
              </a:defRPr>
            </a:pPr>
            <a:r>
              <a:t>Status &amp; Type Schema Enums</a:t>
            </a:r>
          </a:p>
          <a:p>
            <a:pPr>
              <a:lnSpc>
                <a:spcPct val="115000"/>
              </a:lnSpc>
              <a:spcAft>
                <a:spcPts val="800"/>
              </a:spcAft>
              <a:defRPr sz="950">
                <a:solidFill>
                  <a:srgbClr val="475569"/>
                </a:solidFill>
              </a:defRPr>
            </a:pPr>
            <a:r>
              <a:t>• Tracks exact settlement sum in INR with two decimal precision.</a:t>
            </a:r>
          </a:p>
          <a:p>
            <a:pPr>
              <a:lnSpc>
                <a:spcPct val="115000"/>
              </a:lnSpc>
              <a:spcAft>
                <a:spcPts val="800"/>
              </a:spcAft>
              <a:defRPr sz="950">
                <a:solidFill>
                  <a:srgbClr val="475569"/>
                </a:solidFill>
              </a:defRPr>
            </a:pPr>
            <a:r>
              <a:t>• Enforces lifecycle status transitions: pending → success, failure, or cancelled.</a:t>
            </a:r>
          </a:p>
          <a:p>
            <a:pPr>
              <a:lnSpc>
                <a:spcPct val="115000"/>
              </a:lnSpc>
              <a:spcAft>
                <a:spcPts val="800"/>
              </a:spcAft>
              <a:defRPr sz="950">
                <a:solidFill>
                  <a:srgbClr val="475569"/>
                </a:solidFill>
              </a:defRPr>
            </a:pPr>
            <a:r>
              <a:t>• Captures transfer type: transfer, reversal, refund, topup, or enquiry.</a:t>
            </a:r>
          </a:p>
        </p:txBody>
      </p:sp>
      <p:sp>
        <p:nvSpPr>
          <p:cNvPr id="15" name="Rounded Rectangle 14"/>
          <p:cNvSpPr/>
          <p:nvPr/>
        </p:nvSpPr>
        <p:spPr>
          <a:xfrm>
            <a:off x="6217920" y="2697480"/>
            <a:ext cx="2542032" cy="3429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0" y="2834640"/>
            <a:ext cx="2176272" cy="3154680"/>
          </a:xfrm>
          <a:prstGeom prst="rect">
            <a:avLst/>
          </a:prstGeom>
          <a:noFill/>
        </p:spPr>
        <p:txBody>
          <a:bodyPr wrap="square" lIns="0" tIns="0" rIns="0" bIns="0">
            <a:spAutoFit/>
          </a:bodyPr>
          <a:lstStyle/>
          <a:p>
            <a:pPr>
              <a:defRPr sz="1150" b="1">
                <a:solidFill>
                  <a:srgbClr val="111827"/>
                </a:solidFill>
              </a:defRPr>
            </a:pPr>
            <a:r>
              <a:rPr dirty="0"/>
              <a:t>3. Channel &amp; Routing Method</a:t>
            </a:r>
          </a:p>
          <a:p>
            <a:pPr>
              <a:spcAft>
                <a:spcPts val="1000"/>
              </a:spcAft>
              <a:defRPr sz="950" b="1">
                <a:solidFill>
                  <a:srgbClr val="2563EB"/>
                </a:solidFill>
              </a:defRPr>
            </a:pPr>
            <a:r>
              <a:rPr dirty="0"/>
              <a:t>Documented Payment Methods</a:t>
            </a:r>
          </a:p>
          <a:p>
            <a:pPr>
              <a:lnSpc>
                <a:spcPct val="115000"/>
              </a:lnSpc>
              <a:spcAft>
                <a:spcPts val="800"/>
              </a:spcAft>
              <a:defRPr sz="950">
                <a:solidFill>
                  <a:srgbClr val="475569"/>
                </a:solidFill>
              </a:defRPr>
            </a:pPr>
            <a:r>
              <a:rPr dirty="0"/>
              <a:t>• Monitors payment rails: WALLET, BANK_TRANSFER, CARD, UPI, NEFT, RTGS, IMPS.</a:t>
            </a:r>
          </a:p>
          <a:p>
            <a:pPr>
              <a:lnSpc>
                <a:spcPct val="115000"/>
              </a:lnSpc>
              <a:spcAft>
                <a:spcPts val="800"/>
              </a:spcAft>
              <a:defRPr sz="950">
                <a:solidFill>
                  <a:srgbClr val="475569"/>
                </a:solidFill>
              </a:defRPr>
            </a:pPr>
            <a:r>
              <a:rPr dirty="0"/>
              <a:t>• Verifies whether debits originated from Wallet or Linked Bank Accounts.</a:t>
            </a:r>
          </a:p>
          <a:p>
            <a:pPr>
              <a:lnSpc>
                <a:spcPct val="115000"/>
              </a:lnSpc>
              <a:spcAft>
                <a:spcPts val="800"/>
              </a:spcAft>
              <a:defRPr sz="950">
                <a:solidFill>
                  <a:srgbClr val="475569"/>
                </a:solidFill>
              </a:defRPr>
            </a:pPr>
            <a:r>
              <a:rPr dirty="0"/>
              <a:t>• Links </a:t>
            </a:r>
            <a:r>
              <a:rPr dirty="0" err="1"/>
              <a:t>senderWalletId</a:t>
            </a:r>
            <a:r>
              <a:rPr dirty="0"/>
              <a:t> to beneficiary </a:t>
            </a:r>
            <a:r>
              <a:rPr dirty="0" err="1"/>
              <a:t>recipientId</a:t>
            </a:r>
            <a:r>
              <a:rPr dirty="0"/>
              <a:t> with populated user details.</a:t>
            </a:r>
          </a:p>
        </p:txBody>
      </p:sp>
      <p:sp>
        <p:nvSpPr>
          <p:cNvPr id="17" name="Rounded Rectangle 16"/>
          <p:cNvSpPr/>
          <p:nvPr/>
        </p:nvSpPr>
        <p:spPr>
          <a:xfrm>
            <a:off x="8961120" y="2697480"/>
            <a:ext cx="2542032" cy="3429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44000" y="2834640"/>
            <a:ext cx="2176272" cy="3154680"/>
          </a:xfrm>
          <a:prstGeom prst="rect">
            <a:avLst/>
          </a:prstGeom>
          <a:noFill/>
        </p:spPr>
        <p:txBody>
          <a:bodyPr wrap="square" lIns="0" tIns="0" rIns="0" bIns="0">
            <a:spAutoFit/>
          </a:bodyPr>
          <a:lstStyle/>
          <a:p>
            <a:pPr>
              <a:defRPr sz="1150" b="1">
                <a:solidFill>
                  <a:srgbClr val="111827"/>
                </a:solidFill>
              </a:defRPr>
            </a:pPr>
            <a:r>
              <a:t>4. Failure Root-Cause Reason</a:t>
            </a:r>
          </a:p>
          <a:p>
            <a:pPr>
              <a:spcAft>
                <a:spcPts val="1000"/>
              </a:spcAft>
              <a:defRPr sz="950" b="1">
                <a:solidFill>
                  <a:srgbClr val="2563EB"/>
                </a:solidFill>
              </a:defRPr>
            </a:pPr>
            <a:r>
              <a:t>Diagnostic Field &amp; Override Audit</a:t>
            </a:r>
          </a:p>
          <a:p>
            <a:pPr>
              <a:lnSpc>
                <a:spcPct val="115000"/>
              </a:lnSpc>
              <a:spcAft>
                <a:spcPts val="800"/>
              </a:spcAft>
              <a:defRPr sz="950">
                <a:solidFill>
                  <a:srgbClr val="475569"/>
                </a:solidFill>
              </a:defRPr>
            </a:pPr>
            <a:r>
              <a:t>• Stores exact error rationale if execution aborts (e.g. INSUFFICIENT_FUNDS).</a:t>
            </a:r>
          </a:p>
          <a:p>
            <a:pPr>
              <a:lnSpc>
                <a:spcPct val="115000"/>
              </a:lnSpc>
              <a:spcAft>
                <a:spcPts val="800"/>
              </a:spcAft>
              <a:defRPr sz="950">
                <a:solidFill>
                  <a:srgbClr val="475569"/>
                </a:solidFill>
              </a:defRPr>
            </a:pPr>
            <a:r>
              <a:t>• Links directly to the ErrorLog document via transactionId.</a:t>
            </a:r>
          </a:p>
          <a:p>
            <a:pPr>
              <a:lnSpc>
                <a:spcPct val="115000"/>
              </a:lnSpc>
              <a:spcAft>
                <a:spcPts val="800"/>
              </a:spcAft>
              <a:defRPr sz="950">
                <a:solidFill>
                  <a:srgbClr val="475569"/>
                </a:solidFill>
              </a:defRPr>
            </a:pPr>
            <a:r>
              <a:t>• Records resolving administrator ID (resolvedBy) upon manual intervention.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latin typeface="Arial"/>
              </a:defRPr>
            </a:pPr>
            <a:r>
              <a:t>MODULE 06 — ADMIN OPERATIONS, MONITORING &amp; ERROR AUDIT CONSOLE</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111827"/>
                </a:solidFill>
                <a:latin typeface="Arial"/>
              </a:defRPr>
            </a:pPr>
            <a:r>
              <a:t>Error Telemetry Pipeline &amp; Database Schema</a:t>
            </a:r>
          </a:p>
        </p:txBody>
      </p:sp>
      <p:sp>
        <p:nvSpPr>
          <p:cNvPr id="5" name="Rectangle 4"/>
          <p:cNvSpPr/>
          <p:nvPr/>
        </p:nvSpPr>
        <p:spPr>
          <a:xfrm>
            <a:off x="731520" y="1298448"/>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640080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6446520"/>
            <a:ext cx="4276812" cy="276999"/>
          </a:xfrm>
          <a:prstGeom prst="rect">
            <a:avLst/>
          </a:prstGeom>
          <a:noFill/>
        </p:spPr>
        <p:txBody>
          <a:bodyPr wrap="none" lIns="0" tIns="0" rIns="0" bIns="0">
            <a:spAutoFit/>
          </a:bodyPr>
          <a:lstStyle/>
          <a:p>
            <a:pPr>
              <a:defRPr sz="900">
                <a:solidFill>
                  <a:srgbClr val="475569"/>
                </a:solidFill>
                <a:latin typeface="Arial"/>
              </a:defRPr>
            </a:pPr>
            <a:endParaRPr lang="en-US" dirty="0"/>
          </a:p>
          <a:p>
            <a:pPr>
              <a:defRPr sz="900">
                <a:solidFill>
                  <a:srgbClr val="475569"/>
                </a:solidFill>
                <a:latin typeface="Arial"/>
              </a:defRPr>
            </a:pPr>
            <a:r>
              <a:rPr lang="en-US" dirty="0" err="1"/>
              <a:t>PayGate</a:t>
            </a:r>
            <a:r>
              <a:rPr lang="en-US" dirty="0"/>
              <a:t> · Academic Project Evaluation · Module 6: Admin Operations &amp; Error Audit</a:t>
            </a:r>
          </a:p>
        </p:txBody>
      </p:sp>
      <p:sp>
        <p:nvSpPr>
          <p:cNvPr id="9" name="Rounded Rectangle 8"/>
          <p:cNvSpPr/>
          <p:nvPr/>
        </p:nvSpPr>
        <p:spPr>
          <a:xfrm>
            <a:off x="731520" y="1645920"/>
            <a:ext cx="1645920" cy="1554480"/>
          </a:xfrm>
          <a:prstGeom prst="roundRect">
            <a:avLst/>
          </a:prstGeom>
          <a:solidFill>
            <a:srgbClr val="FFFFFF"/>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1248" y="1755648"/>
            <a:ext cx="1426464" cy="1325880"/>
          </a:xfrm>
          <a:prstGeom prst="rect">
            <a:avLst/>
          </a:prstGeom>
          <a:noFill/>
        </p:spPr>
        <p:txBody>
          <a:bodyPr wrap="square" lIns="0" tIns="0" rIns="0" bIns="0">
            <a:spAutoFit/>
          </a:bodyPr>
          <a:lstStyle/>
          <a:p>
            <a:pPr>
              <a:spcAft>
                <a:spcPts val="600"/>
              </a:spcAft>
              <a:defRPr sz="1000" b="1">
                <a:solidFill>
                  <a:srgbClr val="E11D48"/>
                </a:solidFill>
              </a:defRPr>
            </a:pPr>
            <a:r>
              <a:t>1. Transaction Failure</a:t>
            </a:r>
          </a:p>
          <a:p>
            <a:pPr>
              <a:lnSpc>
                <a:spcPct val="115000"/>
              </a:lnSpc>
              <a:defRPr sz="850">
                <a:solidFill>
                  <a:srgbClr val="475569"/>
                </a:solidFill>
              </a:defRPr>
            </a:pPr>
            <a:r>
              <a:t>Payment debit fails due to business rule or partner error</a:t>
            </a:r>
          </a:p>
        </p:txBody>
      </p:sp>
      <p:sp>
        <p:nvSpPr>
          <p:cNvPr id="11" name="Right Arrow 10"/>
          <p:cNvSpPr/>
          <p:nvPr/>
        </p:nvSpPr>
        <p:spPr>
          <a:xfrm>
            <a:off x="2395728" y="2331720"/>
            <a:ext cx="128016" cy="182880"/>
          </a:xfrm>
          <a:prstGeom prst="rightArrow">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2542032" y="1645920"/>
            <a:ext cx="1645920" cy="1554480"/>
          </a:xfrm>
          <a:prstGeom prst="roundRect">
            <a:avLst/>
          </a:prstGeom>
          <a:solidFill>
            <a:srgbClr val="FFFFFF"/>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651760" y="1755648"/>
            <a:ext cx="1426464" cy="1325880"/>
          </a:xfrm>
          <a:prstGeom prst="rect">
            <a:avLst/>
          </a:prstGeom>
          <a:noFill/>
        </p:spPr>
        <p:txBody>
          <a:bodyPr wrap="square" lIns="0" tIns="0" rIns="0" bIns="0">
            <a:spAutoFit/>
          </a:bodyPr>
          <a:lstStyle/>
          <a:p>
            <a:pPr>
              <a:spcAft>
                <a:spcPts val="600"/>
              </a:spcAft>
              <a:defRPr sz="1000" b="1">
                <a:solidFill>
                  <a:srgbClr val="EA580C"/>
                </a:solidFill>
              </a:defRPr>
            </a:pPr>
            <a:r>
              <a:t>2. Error Classification</a:t>
            </a:r>
          </a:p>
          <a:p>
            <a:pPr>
              <a:lnSpc>
                <a:spcPct val="115000"/>
              </a:lnSpc>
              <a:defRPr sz="850">
                <a:solidFill>
                  <a:srgbClr val="475569"/>
                </a:solidFill>
              </a:defRPr>
            </a:pPr>
            <a:r>
              <a:t>failureReason parsed and categorized automatically</a:t>
            </a:r>
          </a:p>
        </p:txBody>
      </p:sp>
      <p:sp>
        <p:nvSpPr>
          <p:cNvPr id="14" name="Right Arrow 13"/>
          <p:cNvSpPr/>
          <p:nvPr/>
        </p:nvSpPr>
        <p:spPr>
          <a:xfrm>
            <a:off x="4206240" y="2331720"/>
            <a:ext cx="128016" cy="182880"/>
          </a:xfrm>
          <a:prstGeom prst="rightArrow">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4352544" y="1645920"/>
            <a:ext cx="1645920" cy="1554480"/>
          </a:xfrm>
          <a:prstGeom prst="roundRect">
            <a:avLst/>
          </a:prstGeom>
          <a:solidFill>
            <a:srgbClr val="FFFF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462272" y="1755648"/>
            <a:ext cx="1426464" cy="1325880"/>
          </a:xfrm>
          <a:prstGeom prst="rect">
            <a:avLst/>
          </a:prstGeom>
          <a:noFill/>
        </p:spPr>
        <p:txBody>
          <a:bodyPr wrap="square" lIns="0" tIns="0" rIns="0" bIns="0">
            <a:spAutoFit/>
          </a:bodyPr>
          <a:lstStyle/>
          <a:p>
            <a:pPr>
              <a:spcAft>
                <a:spcPts val="600"/>
              </a:spcAft>
              <a:defRPr sz="1000" b="1">
                <a:solidFill>
                  <a:srgbClr val="1E3A8A"/>
                </a:solidFill>
              </a:defRPr>
            </a:pPr>
            <a:r>
              <a:t>3. ErrorLog Creation</a:t>
            </a:r>
          </a:p>
          <a:p>
            <a:pPr>
              <a:lnSpc>
                <a:spcPct val="115000"/>
              </a:lnSpc>
              <a:defRPr sz="850">
                <a:solidFill>
                  <a:srgbClr val="475569"/>
                </a:solidFill>
              </a:defRPr>
            </a:pPr>
            <a:r>
              <a:t>Mongoose post-save hook creates audit document</a:t>
            </a:r>
          </a:p>
        </p:txBody>
      </p:sp>
      <p:sp>
        <p:nvSpPr>
          <p:cNvPr id="17" name="Right Arrow 16"/>
          <p:cNvSpPr/>
          <p:nvPr/>
        </p:nvSpPr>
        <p:spPr>
          <a:xfrm>
            <a:off x="6016752" y="2331720"/>
            <a:ext cx="128016" cy="182880"/>
          </a:xfrm>
          <a:prstGeom prst="rightArrow">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163055" y="1645920"/>
            <a:ext cx="1645920" cy="155448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272783" y="1755648"/>
            <a:ext cx="1426464" cy="1325880"/>
          </a:xfrm>
          <a:prstGeom prst="rect">
            <a:avLst/>
          </a:prstGeom>
          <a:noFill/>
        </p:spPr>
        <p:txBody>
          <a:bodyPr wrap="square" lIns="0" tIns="0" rIns="0" bIns="0">
            <a:spAutoFit/>
          </a:bodyPr>
          <a:lstStyle/>
          <a:p>
            <a:pPr>
              <a:spcAft>
                <a:spcPts val="600"/>
              </a:spcAft>
              <a:defRPr sz="1000" b="1">
                <a:solidFill>
                  <a:srgbClr val="D97706"/>
                </a:solidFill>
              </a:defRPr>
            </a:pPr>
            <a:r>
              <a:t>4. Severity Rating</a:t>
            </a:r>
          </a:p>
          <a:p>
            <a:pPr>
              <a:lnSpc>
                <a:spcPct val="115000"/>
              </a:lnSpc>
              <a:defRPr sz="850">
                <a:solidFill>
                  <a:srgbClr val="475569"/>
                </a:solidFill>
              </a:defRPr>
            </a:pPr>
            <a:r>
              <a:t>Assigned: LOW, MEDIUM, HIGH, or CRITICAL</a:t>
            </a:r>
          </a:p>
        </p:txBody>
      </p:sp>
      <p:sp>
        <p:nvSpPr>
          <p:cNvPr id="20" name="Right Arrow 19"/>
          <p:cNvSpPr/>
          <p:nvPr/>
        </p:nvSpPr>
        <p:spPr>
          <a:xfrm>
            <a:off x="7827263" y="2331720"/>
            <a:ext cx="128016" cy="182880"/>
          </a:xfrm>
          <a:prstGeom prst="rightArrow">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7973568" y="1645920"/>
            <a:ext cx="1645920" cy="155448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083296" y="1755648"/>
            <a:ext cx="1426464" cy="1325880"/>
          </a:xfrm>
          <a:prstGeom prst="rect">
            <a:avLst/>
          </a:prstGeom>
          <a:noFill/>
        </p:spPr>
        <p:txBody>
          <a:bodyPr wrap="square" lIns="0" tIns="0" rIns="0" bIns="0">
            <a:spAutoFit/>
          </a:bodyPr>
          <a:lstStyle/>
          <a:p>
            <a:pPr>
              <a:spcAft>
                <a:spcPts val="600"/>
              </a:spcAft>
              <a:defRPr sz="1000" b="1">
                <a:solidFill>
                  <a:srgbClr val="2563EB"/>
                </a:solidFill>
              </a:defRPr>
            </a:pPr>
            <a:r>
              <a:t>5. Admin Review</a:t>
            </a:r>
          </a:p>
          <a:p>
            <a:pPr>
              <a:lnSpc>
                <a:spcPct val="115000"/>
              </a:lnSpc>
              <a:defRPr sz="850">
                <a:solidFill>
                  <a:srgbClr val="475569"/>
                </a:solidFill>
              </a:defRPr>
            </a:pPr>
            <a:r>
              <a:t>Console alerts on unresolved error telemetry via /admin/errors</a:t>
            </a:r>
          </a:p>
        </p:txBody>
      </p:sp>
      <p:sp>
        <p:nvSpPr>
          <p:cNvPr id="23" name="Right Arrow 22"/>
          <p:cNvSpPr/>
          <p:nvPr/>
        </p:nvSpPr>
        <p:spPr>
          <a:xfrm>
            <a:off x="9637776" y="2331720"/>
            <a:ext cx="128016" cy="182880"/>
          </a:xfrm>
          <a:prstGeom prst="rightArrow">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9784080" y="1645920"/>
            <a:ext cx="1645920" cy="155448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893808" y="1755648"/>
            <a:ext cx="1426464" cy="1325880"/>
          </a:xfrm>
          <a:prstGeom prst="rect">
            <a:avLst/>
          </a:prstGeom>
          <a:noFill/>
        </p:spPr>
        <p:txBody>
          <a:bodyPr wrap="square" lIns="0" tIns="0" rIns="0" bIns="0">
            <a:spAutoFit/>
          </a:bodyPr>
          <a:lstStyle/>
          <a:p>
            <a:pPr>
              <a:spcAft>
                <a:spcPts val="600"/>
              </a:spcAft>
              <a:defRPr sz="1000" b="1">
                <a:solidFill>
                  <a:srgbClr val="0D9488"/>
                </a:solidFill>
              </a:defRPr>
            </a:pPr>
            <a:r>
              <a:t>6. Resolution</a:t>
            </a:r>
          </a:p>
          <a:p>
            <a:pPr>
              <a:lnSpc>
                <a:spcPct val="115000"/>
              </a:lnSpc>
              <a:defRPr sz="850">
                <a:solidFill>
                  <a:srgbClr val="475569"/>
                </a:solidFill>
              </a:defRPr>
            </a:pPr>
            <a:r>
              <a:t>Operator investigates and resolves via PATCH /admin/errors/:id/resolve</a:t>
            </a:r>
          </a:p>
        </p:txBody>
      </p:sp>
      <p:sp>
        <p:nvSpPr>
          <p:cNvPr id="26" name="Rounded Rectangle 25"/>
          <p:cNvSpPr/>
          <p:nvPr/>
        </p:nvSpPr>
        <p:spPr>
          <a:xfrm>
            <a:off x="731520" y="3429000"/>
            <a:ext cx="10728655" cy="26974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05840" y="3566160"/>
            <a:ext cx="10058400" cy="274320"/>
          </a:xfrm>
          <a:prstGeom prst="rect">
            <a:avLst/>
          </a:prstGeom>
          <a:noFill/>
        </p:spPr>
        <p:txBody>
          <a:bodyPr wrap="none" lIns="0" tIns="0" rIns="0" bIns="0">
            <a:spAutoFit/>
          </a:bodyPr>
          <a:lstStyle/>
          <a:p>
            <a:pPr>
              <a:defRPr sz="1000" b="1">
                <a:solidFill>
                  <a:srgbClr val="1E3A8A"/>
                </a:solidFill>
              </a:defRPr>
            </a:pPr>
            <a:r>
              <a:t>DOCUMENTED ERRORLOG DATABASE SCHEMA (COLLECTION: errorlogs)</a:t>
            </a:r>
          </a:p>
        </p:txBody>
      </p:sp>
      <p:graphicFrame>
        <p:nvGraphicFramePr>
          <p:cNvPr id="28" name="Table 27"/>
          <p:cNvGraphicFramePr>
            <a:graphicFrameLocks noGrp="1"/>
          </p:cNvGraphicFramePr>
          <p:nvPr>
            <p:extLst>
              <p:ext uri="{D42A27DB-BD31-4B8C-83A1-F6EECF244321}">
                <p14:modId xmlns:p14="http://schemas.microsoft.com/office/powerpoint/2010/main" val="2743059907"/>
              </p:ext>
            </p:extLst>
          </p:nvPr>
        </p:nvGraphicFramePr>
        <p:xfrm>
          <a:off x="1005840" y="3775329"/>
          <a:ext cx="10180015" cy="224409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5242255">
                  <a:extLst>
                    <a:ext uri="{9D8B030D-6E8A-4147-A177-3AD203B41FA5}">
                      <a16:colId xmlns:a16="http://schemas.microsoft.com/office/drawing/2014/main" val="20003"/>
                    </a:ext>
                  </a:extLst>
                </a:gridCol>
              </a:tblGrid>
              <a:tr h="257175">
                <a:tc>
                  <a:txBody>
                    <a:bodyPr/>
                    <a:lstStyle/>
                    <a:p>
                      <a:pPr>
                        <a:defRPr sz="950" b="1">
                          <a:solidFill>
                            <a:srgbClr val="FFFFFF"/>
                          </a:solidFill>
                          <a:latin typeface="Arial"/>
                        </a:defRPr>
                      </a:pPr>
                      <a:r>
                        <a:t>Field Name</a:t>
                      </a:r>
                    </a:p>
                  </a:txBody>
                  <a:tcPr>
                    <a:solidFill>
                      <a:srgbClr val="1E3A8A"/>
                    </a:solidFill>
                  </a:tcPr>
                </a:tc>
                <a:tc>
                  <a:txBody>
                    <a:bodyPr/>
                    <a:lstStyle/>
                    <a:p>
                      <a:pPr>
                        <a:defRPr sz="950" b="1">
                          <a:solidFill>
                            <a:srgbClr val="FFFFFF"/>
                          </a:solidFill>
                          <a:latin typeface="Arial"/>
                        </a:defRPr>
                      </a:pPr>
                      <a:r>
                        <a:t>Data Type</a:t>
                      </a:r>
                    </a:p>
                  </a:txBody>
                  <a:tcPr>
                    <a:solidFill>
                      <a:srgbClr val="1E3A8A"/>
                    </a:solidFill>
                  </a:tcPr>
                </a:tc>
                <a:tc>
                  <a:txBody>
                    <a:bodyPr/>
                    <a:lstStyle/>
                    <a:p>
                      <a:pPr>
                        <a:defRPr sz="950" b="1">
                          <a:solidFill>
                            <a:srgbClr val="FFFFFF"/>
                          </a:solidFill>
                          <a:latin typeface="Arial"/>
                        </a:defRPr>
                      </a:pPr>
                      <a:r>
                        <a:t>Constraints / Default</a:t>
                      </a:r>
                    </a:p>
                  </a:txBody>
                  <a:tcPr>
                    <a:solidFill>
                      <a:srgbClr val="1E3A8A"/>
                    </a:solidFill>
                  </a:tcPr>
                </a:tc>
                <a:tc>
                  <a:txBody>
                    <a:bodyPr/>
                    <a:lstStyle/>
                    <a:p>
                      <a:pPr>
                        <a:defRPr sz="950" b="1">
                          <a:solidFill>
                            <a:srgbClr val="FFFFFF"/>
                          </a:solidFill>
                          <a:latin typeface="Arial"/>
                        </a:defRPr>
                      </a:pPr>
                      <a:r>
                        <a:rPr dirty="0"/>
                        <a:t>Description</a:t>
                      </a:r>
                    </a:p>
                  </a:txBody>
                  <a:tcPr>
                    <a:solidFill>
                      <a:srgbClr val="1E3A8A"/>
                    </a:solidFill>
                  </a:tcPr>
                </a:tc>
                <a:extLst>
                  <a:ext uri="{0D108BD9-81ED-4DB2-BD59-A6C34878D82A}">
                    <a16:rowId xmlns:a16="http://schemas.microsoft.com/office/drawing/2014/main" val="10000"/>
                  </a:ext>
                </a:extLst>
              </a:tr>
              <a:tr h="257175">
                <a:tc>
                  <a:txBody>
                    <a:bodyPr/>
                    <a:lstStyle/>
                    <a:p>
                      <a:pPr>
                        <a:defRPr sz="850" b="1">
                          <a:solidFill>
                            <a:srgbClr val="111827"/>
                          </a:solidFill>
                          <a:latin typeface="Arial"/>
                        </a:defRPr>
                      </a:pPr>
                      <a:r>
                        <a:t>_id</a:t>
                      </a:r>
                    </a:p>
                  </a:txBody>
                  <a:tcPr>
                    <a:solidFill>
                      <a:srgbClr val="FFFFFF"/>
                    </a:solidFill>
                  </a:tcPr>
                </a:tc>
                <a:tc>
                  <a:txBody>
                    <a:bodyPr/>
                    <a:lstStyle/>
                    <a:p>
                      <a:pPr>
                        <a:defRPr sz="850">
                          <a:solidFill>
                            <a:srgbClr val="475569"/>
                          </a:solidFill>
                          <a:latin typeface="Arial"/>
                        </a:defRPr>
                      </a:pPr>
                      <a:r>
                        <a:t>ObjectId</a:t>
                      </a:r>
                    </a:p>
                  </a:txBody>
                  <a:tcPr>
                    <a:solidFill>
                      <a:srgbClr val="FFFFFF"/>
                    </a:solidFill>
                  </a:tcPr>
                </a:tc>
                <a:tc>
                  <a:txBody>
                    <a:bodyPr/>
                    <a:lstStyle/>
                    <a:p>
                      <a:pPr>
                        <a:defRPr sz="850">
                          <a:solidFill>
                            <a:srgbClr val="475569"/>
                          </a:solidFill>
                          <a:latin typeface="Arial"/>
                        </a:defRPr>
                      </a:pPr>
                      <a:r>
                        <a:t>Primary Key, Auto</a:t>
                      </a:r>
                    </a:p>
                  </a:txBody>
                  <a:tcPr>
                    <a:solidFill>
                      <a:srgbClr val="FFFFFF"/>
                    </a:solidFill>
                  </a:tcPr>
                </a:tc>
                <a:tc>
                  <a:txBody>
                    <a:bodyPr/>
                    <a:lstStyle/>
                    <a:p>
                      <a:pPr>
                        <a:defRPr sz="850">
                          <a:solidFill>
                            <a:srgbClr val="475569"/>
                          </a:solidFill>
                          <a:latin typeface="Arial"/>
                        </a:defRPr>
                      </a:pPr>
                      <a:r>
                        <a:t>Unique telemetry incident identifier</a:t>
                      </a:r>
                    </a:p>
                  </a:txBody>
                  <a:tcPr>
                    <a:solidFill>
                      <a:srgbClr val="FFFFFF"/>
                    </a:solidFill>
                  </a:tcPr>
                </a:tc>
                <a:extLst>
                  <a:ext uri="{0D108BD9-81ED-4DB2-BD59-A6C34878D82A}">
                    <a16:rowId xmlns:a16="http://schemas.microsoft.com/office/drawing/2014/main" val="10001"/>
                  </a:ext>
                </a:extLst>
              </a:tr>
              <a:tr h="257175">
                <a:tc>
                  <a:txBody>
                    <a:bodyPr/>
                    <a:lstStyle/>
                    <a:p>
                      <a:pPr>
                        <a:defRPr sz="850" b="1">
                          <a:solidFill>
                            <a:srgbClr val="111827"/>
                          </a:solidFill>
                          <a:latin typeface="Arial"/>
                        </a:defRPr>
                      </a:pPr>
                      <a:r>
                        <a:t>transactionId</a:t>
                      </a:r>
                    </a:p>
                  </a:txBody>
                  <a:tcPr>
                    <a:solidFill>
                      <a:srgbClr val="F1F5F9"/>
                    </a:solidFill>
                  </a:tcPr>
                </a:tc>
                <a:tc>
                  <a:txBody>
                    <a:bodyPr/>
                    <a:lstStyle/>
                    <a:p>
                      <a:pPr>
                        <a:defRPr sz="850">
                          <a:solidFill>
                            <a:srgbClr val="475569"/>
                          </a:solidFill>
                          <a:latin typeface="Arial"/>
                        </a:defRPr>
                      </a:pPr>
                      <a:r>
                        <a:t>ObjectId</a:t>
                      </a:r>
                    </a:p>
                  </a:txBody>
                  <a:tcPr>
                    <a:solidFill>
                      <a:srgbClr val="F1F5F9"/>
                    </a:solidFill>
                  </a:tcPr>
                </a:tc>
                <a:tc>
                  <a:txBody>
                    <a:bodyPr/>
                    <a:lstStyle/>
                    <a:p>
                      <a:pPr>
                        <a:defRPr sz="850">
                          <a:solidFill>
                            <a:srgbClr val="475569"/>
                          </a:solidFill>
                          <a:latin typeface="Arial"/>
                        </a:defRPr>
                      </a:pPr>
                      <a:r>
                        <a:t>Required, Ref: 'Transaction'</a:t>
                      </a:r>
                    </a:p>
                  </a:txBody>
                  <a:tcPr>
                    <a:solidFill>
                      <a:srgbClr val="F1F5F9"/>
                    </a:solidFill>
                  </a:tcPr>
                </a:tc>
                <a:tc>
                  <a:txBody>
                    <a:bodyPr/>
                    <a:lstStyle/>
                    <a:p>
                      <a:pPr>
                        <a:defRPr sz="850">
                          <a:solidFill>
                            <a:srgbClr val="475569"/>
                          </a:solidFill>
                          <a:latin typeface="Arial"/>
                        </a:defRPr>
                      </a:pPr>
                      <a:r>
                        <a:t>Foreign reference to the affected ledger transaction</a:t>
                      </a:r>
                    </a:p>
                  </a:txBody>
                  <a:tcPr>
                    <a:solidFill>
                      <a:srgbClr val="F1F5F9"/>
                    </a:solidFill>
                  </a:tcPr>
                </a:tc>
                <a:extLst>
                  <a:ext uri="{0D108BD9-81ED-4DB2-BD59-A6C34878D82A}">
                    <a16:rowId xmlns:a16="http://schemas.microsoft.com/office/drawing/2014/main" val="10002"/>
                  </a:ext>
                </a:extLst>
              </a:tr>
              <a:tr h="257175">
                <a:tc>
                  <a:txBody>
                    <a:bodyPr/>
                    <a:lstStyle/>
                    <a:p>
                      <a:pPr>
                        <a:defRPr sz="850" b="1">
                          <a:solidFill>
                            <a:srgbClr val="111827"/>
                          </a:solidFill>
                          <a:latin typeface="Arial"/>
                        </a:defRPr>
                      </a:pPr>
                      <a:r>
                        <a:t>errorCode</a:t>
                      </a:r>
                    </a:p>
                  </a:txBody>
                  <a:tcPr>
                    <a:solidFill>
                      <a:srgbClr val="FFFFFF"/>
                    </a:solidFill>
                  </a:tcPr>
                </a:tc>
                <a:tc>
                  <a:txBody>
                    <a:bodyPr/>
                    <a:lstStyle/>
                    <a:p>
                      <a:pPr>
                        <a:defRPr sz="850">
                          <a:solidFill>
                            <a:srgbClr val="475569"/>
                          </a:solidFill>
                          <a:latin typeface="Arial"/>
                        </a:defRPr>
                      </a:pPr>
                      <a:r>
                        <a:t>String</a:t>
                      </a:r>
                    </a:p>
                  </a:txBody>
                  <a:tcPr>
                    <a:solidFill>
                      <a:srgbClr val="FFFFFF"/>
                    </a:solidFill>
                  </a:tcPr>
                </a:tc>
                <a:tc>
                  <a:txBody>
                    <a:bodyPr/>
                    <a:lstStyle/>
                    <a:p>
                      <a:pPr>
                        <a:defRPr sz="850">
                          <a:solidFill>
                            <a:srgbClr val="475569"/>
                          </a:solidFill>
                          <a:latin typeface="Arial"/>
                        </a:defRPr>
                      </a:pPr>
                      <a:r>
                        <a:t>Required (e.g. INSUFFICIENT_FUNDS)</a:t>
                      </a:r>
                    </a:p>
                  </a:txBody>
                  <a:tcPr>
                    <a:solidFill>
                      <a:srgbClr val="FFFFFF"/>
                    </a:solidFill>
                  </a:tcPr>
                </a:tc>
                <a:tc>
                  <a:txBody>
                    <a:bodyPr/>
                    <a:lstStyle/>
                    <a:p>
                      <a:pPr>
                        <a:defRPr sz="850">
                          <a:solidFill>
                            <a:srgbClr val="475569"/>
                          </a:solidFill>
                          <a:latin typeface="Arial"/>
                        </a:defRPr>
                      </a:pPr>
                      <a:r>
                        <a:t>Categorized machine-readable error designation</a:t>
                      </a:r>
                    </a:p>
                  </a:txBody>
                  <a:tcPr>
                    <a:solidFill>
                      <a:srgbClr val="FFFFFF"/>
                    </a:solidFill>
                  </a:tcPr>
                </a:tc>
                <a:extLst>
                  <a:ext uri="{0D108BD9-81ED-4DB2-BD59-A6C34878D82A}">
                    <a16:rowId xmlns:a16="http://schemas.microsoft.com/office/drawing/2014/main" val="10003"/>
                  </a:ext>
                </a:extLst>
              </a:tr>
              <a:tr h="257175">
                <a:tc>
                  <a:txBody>
                    <a:bodyPr/>
                    <a:lstStyle/>
                    <a:p>
                      <a:pPr>
                        <a:defRPr sz="850" b="1">
                          <a:solidFill>
                            <a:srgbClr val="111827"/>
                          </a:solidFill>
                          <a:latin typeface="Arial"/>
                        </a:defRPr>
                      </a:pPr>
                      <a:r>
                        <a:t>severity</a:t>
                      </a:r>
                    </a:p>
                  </a:txBody>
                  <a:tcPr>
                    <a:solidFill>
                      <a:srgbClr val="F1F5F9"/>
                    </a:solidFill>
                  </a:tcPr>
                </a:tc>
                <a:tc>
                  <a:txBody>
                    <a:bodyPr/>
                    <a:lstStyle/>
                    <a:p>
                      <a:pPr>
                        <a:defRPr sz="850">
                          <a:solidFill>
                            <a:srgbClr val="475569"/>
                          </a:solidFill>
                          <a:latin typeface="Arial"/>
                        </a:defRPr>
                      </a:pPr>
                      <a:r>
                        <a:t>String</a:t>
                      </a:r>
                    </a:p>
                  </a:txBody>
                  <a:tcPr>
                    <a:solidFill>
                      <a:srgbClr val="F1F5F9"/>
                    </a:solidFill>
                  </a:tcPr>
                </a:tc>
                <a:tc>
                  <a:txBody>
                    <a:bodyPr/>
                    <a:lstStyle/>
                    <a:p>
                      <a:pPr>
                        <a:defRPr sz="850">
                          <a:solidFill>
                            <a:srgbClr val="475569"/>
                          </a:solidFill>
                          <a:latin typeface="Arial"/>
                        </a:defRPr>
                      </a:pPr>
                      <a:r>
                        <a:t>Enum: ['LOW','MEDIUM','HIGH','CRITICAL']</a:t>
                      </a:r>
                    </a:p>
                  </a:txBody>
                  <a:tcPr>
                    <a:solidFill>
                      <a:srgbClr val="F1F5F9"/>
                    </a:solidFill>
                  </a:tcPr>
                </a:tc>
                <a:tc>
                  <a:txBody>
                    <a:bodyPr/>
                    <a:lstStyle/>
                    <a:p>
                      <a:pPr>
                        <a:defRPr sz="850">
                          <a:solidFill>
                            <a:srgbClr val="475569"/>
                          </a:solidFill>
                          <a:latin typeface="Arial"/>
                        </a:defRPr>
                      </a:pPr>
                      <a:r>
                        <a:t>Triage rating calculated from failure severity mapping</a:t>
                      </a:r>
                    </a:p>
                  </a:txBody>
                  <a:tcPr>
                    <a:solidFill>
                      <a:srgbClr val="F1F5F9"/>
                    </a:solidFill>
                  </a:tcPr>
                </a:tc>
                <a:extLst>
                  <a:ext uri="{0D108BD9-81ED-4DB2-BD59-A6C34878D82A}">
                    <a16:rowId xmlns:a16="http://schemas.microsoft.com/office/drawing/2014/main" val="10004"/>
                  </a:ext>
                </a:extLst>
              </a:tr>
              <a:tr h="257175">
                <a:tc>
                  <a:txBody>
                    <a:bodyPr/>
                    <a:lstStyle/>
                    <a:p>
                      <a:pPr>
                        <a:defRPr sz="850" b="1">
                          <a:solidFill>
                            <a:srgbClr val="111827"/>
                          </a:solidFill>
                          <a:latin typeface="Arial"/>
                        </a:defRPr>
                      </a:pPr>
                      <a:r>
                        <a:t>message</a:t>
                      </a:r>
                    </a:p>
                  </a:txBody>
                  <a:tcPr>
                    <a:solidFill>
                      <a:srgbClr val="FFFFFF"/>
                    </a:solidFill>
                  </a:tcPr>
                </a:tc>
                <a:tc>
                  <a:txBody>
                    <a:bodyPr/>
                    <a:lstStyle/>
                    <a:p>
                      <a:pPr>
                        <a:defRPr sz="850">
                          <a:solidFill>
                            <a:srgbClr val="475569"/>
                          </a:solidFill>
                          <a:latin typeface="Arial"/>
                        </a:defRPr>
                      </a:pPr>
                      <a:r>
                        <a:t>String</a:t>
                      </a:r>
                    </a:p>
                  </a:txBody>
                  <a:tcPr>
                    <a:solidFill>
                      <a:srgbClr val="FFFFFF"/>
                    </a:solidFill>
                  </a:tcPr>
                </a:tc>
                <a:tc>
                  <a:txBody>
                    <a:bodyPr/>
                    <a:lstStyle/>
                    <a:p>
                      <a:pPr>
                        <a:defRPr sz="850">
                          <a:solidFill>
                            <a:srgbClr val="475569"/>
                          </a:solidFill>
                          <a:latin typeface="Arial"/>
                        </a:defRPr>
                      </a:pPr>
                      <a:r>
                        <a:t>Required, String</a:t>
                      </a:r>
                    </a:p>
                  </a:txBody>
                  <a:tcPr>
                    <a:solidFill>
                      <a:srgbClr val="FFFFFF"/>
                    </a:solidFill>
                  </a:tcPr>
                </a:tc>
                <a:tc>
                  <a:txBody>
                    <a:bodyPr/>
                    <a:lstStyle/>
                    <a:p>
                      <a:pPr>
                        <a:defRPr sz="850">
                          <a:solidFill>
                            <a:srgbClr val="475569"/>
                          </a:solidFill>
                          <a:latin typeface="Arial"/>
                        </a:defRPr>
                      </a:pPr>
                      <a:r>
                        <a:t>Detailed human-readable failure context and diagnostics</a:t>
                      </a:r>
                    </a:p>
                  </a:txBody>
                  <a:tcPr>
                    <a:solidFill>
                      <a:srgbClr val="FFFFFF"/>
                    </a:solidFill>
                  </a:tcPr>
                </a:tc>
                <a:extLst>
                  <a:ext uri="{0D108BD9-81ED-4DB2-BD59-A6C34878D82A}">
                    <a16:rowId xmlns:a16="http://schemas.microsoft.com/office/drawing/2014/main" val="10005"/>
                  </a:ext>
                </a:extLst>
              </a:tr>
              <a:tr h="257175">
                <a:tc>
                  <a:txBody>
                    <a:bodyPr/>
                    <a:lstStyle/>
                    <a:p>
                      <a:pPr>
                        <a:defRPr sz="850" b="1">
                          <a:solidFill>
                            <a:srgbClr val="111827"/>
                          </a:solidFill>
                          <a:latin typeface="Arial"/>
                        </a:defRPr>
                      </a:pPr>
                      <a:r>
                        <a:t>resolved</a:t>
                      </a:r>
                    </a:p>
                  </a:txBody>
                  <a:tcPr>
                    <a:solidFill>
                      <a:srgbClr val="F1F5F9"/>
                    </a:solidFill>
                  </a:tcPr>
                </a:tc>
                <a:tc>
                  <a:txBody>
                    <a:bodyPr/>
                    <a:lstStyle/>
                    <a:p>
                      <a:pPr>
                        <a:defRPr sz="850">
                          <a:solidFill>
                            <a:srgbClr val="475569"/>
                          </a:solidFill>
                          <a:latin typeface="Arial"/>
                        </a:defRPr>
                      </a:pPr>
                      <a:r>
                        <a:t>Boolean</a:t>
                      </a:r>
                    </a:p>
                  </a:txBody>
                  <a:tcPr>
                    <a:solidFill>
                      <a:srgbClr val="F1F5F9"/>
                    </a:solidFill>
                  </a:tcPr>
                </a:tc>
                <a:tc>
                  <a:txBody>
                    <a:bodyPr/>
                    <a:lstStyle/>
                    <a:p>
                      <a:pPr>
                        <a:defRPr sz="850">
                          <a:solidFill>
                            <a:srgbClr val="475569"/>
                          </a:solidFill>
                          <a:latin typeface="Arial"/>
                        </a:defRPr>
                      </a:pPr>
                      <a:r>
                        <a:t>Default: false</a:t>
                      </a:r>
                    </a:p>
                  </a:txBody>
                  <a:tcPr>
                    <a:solidFill>
                      <a:srgbClr val="F1F5F9"/>
                    </a:solidFill>
                  </a:tcPr>
                </a:tc>
                <a:tc>
                  <a:txBody>
                    <a:bodyPr/>
                    <a:lstStyle/>
                    <a:p>
                      <a:pPr>
                        <a:defRPr sz="850">
                          <a:solidFill>
                            <a:srgbClr val="475569"/>
                          </a:solidFill>
                          <a:latin typeface="Arial"/>
                        </a:defRPr>
                      </a:pPr>
                      <a:r>
                        <a:t>Administrative resolution flag toggled upon investigation</a:t>
                      </a:r>
                    </a:p>
                  </a:txBody>
                  <a:tcPr>
                    <a:solidFill>
                      <a:srgbClr val="F1F5F9"/>
                    </a:solidFill>
                  </a:tcPr>
                </a:tc>
                <a:extLst>
                  <a:ext uri="{0D108BD9-81ED-4DB2-BD59-A6C34878D82A}">
                    <a16:rowId xmlns:a16="http://schemas.microsoft.com/office/drawing/2014/main" val="10006"/>
                  </a:ext>
                </a:extLst>
              </a:tr>
              <a:tr h="257175">
                <a:tc>
                  <a:txBody>
                    <a:bodyPr/>
                    <a:lstStyle/>
                    <a:p>
                      <a:pPr>
                        <a:defRPr sz="850" b="1">
                          <a:solidFill>
                            <a:srgbClr val="111827"/>
                          </a:solidFill>
                          <a:latin typeface="Arial"/>
                        </a:defRPr>
                      </a:pPr>
                      <a:r>
                        <a:t>createdAt</a:t>
                      </a:r>
                    </a:p>
                  </a:txBody>
                  <a:tcPr>
                    <a:solidFill>
                      <a:srgbClr val="FFFFFF"/>
                    </a:solidFill>
                  </a:tcPr>
                </a:tc>
                <a:tc>
                  <a:txBody>
                    <a:bodyPr/>
                    <a:lstStyle/>
                    <a:p>
                      <a:pPr>
                        <a:defRPr sz="850">
                          <a:solidFill>
                            <a:srgbClr val="475569"/>
                          </a:solidFill>
                          <a:latin typeface="Arial"/>
                        </a:defRPr>
                      </a:pPr>
                      <a:r>
                        <a:t>Date</a:t>
                      </a:r>
                    </a:p>
                  </a:txBody>
                  <a:tcPr>
                    <a:solidFill>
                      <a:srgbClr val="FFFFFF"/>
                    </a:solidFill>
                  </a:tcPr>
                </a:tc>
                <a:tc>
                  <a:txBody>
                    <a:bodyPr/>
                    <a:lstStyle/>
                    <a:p>
                      <a:pPr>
                        <a:defRPr sz="850">
                          <a:solidFill>
                            <a:srgbClr val="475569"/>
                          </a:solidFill>
                          <a:latin typeface="Arial"/>
                        </a:defRPr>
                      </a:pPr>
                      <a:r>
                        <a:t>Auto Timestamp</a:t>
                      </a:r>
                    </a:p>
                  </a:txBody>
                  <a:tcPr>
                    <a:solidFill>
                      <a:srgbClr val="FFFFFF"/>
                    </a:solidFill>
                  </a:tcPr>
                </a:tc>
                <a:tc>
                  <a:txBody>
                    <a:bodyPr/>
                    <a:lstStyle/>
                    <a:p>
                      <a:pPr>
                        <a:defRPr sz="850">
                          <a:solidFill>
                            <a:srgbClr val="475569"/>
                          </a:solidFill>
                          <a:latin typeface="Arial"/>
                        </a:defRPr>
                      </a:pPr>
                      <a:r>
                        <a:rPr dirty="0"/>
                        <a:t>Exact ISO-8601 timestamp when failure was intercepted</a:t>
                      </a:r>
                    </a:p>
                  </a:txBody>
                  <a:tcP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latin typeface="Arial"/>
              </a:defRPr>
            </a:pPr>
            <a:r>
              <a:t>MODULE 06 — ADMIN OPERATIONS, MONITORING &amp; ERROR AUDIT CONSOLE</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111827"/>
                </a:solidFill>
                <a:latin typeface="Arial"/>
              </a:defRPr>
            </a:pPr>
            <a:r>
              <a:t>Documented Error Severity Classification &amp; Mapping</a:t>
            </a:r>
          </a:p>
        </p:txBody>
      </p:sp>
      <p:sp>
        <p:nvSpPr>
          <p:cNvPr id="5" name="Rectangle 4"/>
          <p:cNvSpPr/>
          <p:nvPr/>
        </p:nvSpPr>
        <p:spPr>
          <a:xfrm>
            <a:off x="731520" y="1298448"/>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640080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6446520"/>
            <a:ext cx="4276812" cy="276999"/>
          </a:xfrm>
          <a:prstGeom prst="rect">
            <a:avLst/>
          </a:prstGeom>
          <a:noFill/>
        </p:spPr>
        <p:txBody>
          <a:bodyPr wrap="none" lIns="0" tIns="0" rIns="0" bIns="0">
            <a:spAutoFit/>
          </a:bodyPr>
          <a:lstStyle/>
          <a:p>
            <a:pPr>
              <a:defRPr sz="900">
                <a:solidFill>
                  <a:srgbClr val="475569"/>
                </a:solidFill>
                <a:latin typeface="Arial"/>
              </a:defRPr>
            </a:pPr>
            <a:endParaRPr lang="en-US" dirty="0"/>
          </a:p>
          <a:p>
            <a:pPr>
              <a:defRPr sz="900">
                <a:solidFill>
                  <a:srgbClr val="475569"/>
                </a:solidFill>
                <a:latin typeface="Arial"/>
              </a:defRPr>
            </a:pPr>
            <a:r>
              <a:rPr lang="en-US" dirty="0" err="1"/>
              <a:t>PayGate</a:t>
            </a:r>
            <a:r>
              <a:rPr lang="en-US" dirty="0"/>
              <a:t> · Academic Project Evaluation · Module 6: Admin Operations &amp; Error Audit</a:t>
            </a:r>
          </a:p>
        </p:txBody>
      </p:sp>
      <p:sp>
        <p:nvSpPr>
          <p:cNvPr id="9" name="Rounded Rectangle 8"/>
          <p:cNvSpPr/>
          <p:nvPr/>
        </p:nvSpPr>
        <p:spPr>
          <a:xfrm>
            <a:off x="731520" y="1645920"/>
            <a:ext cx="2542032" cy="4480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31520" y="1645920"/>
            <a:ext cx="2542032" cy="685800"/>
          </a:xfrm>
          <a:prstGeom prst="rect">
            <a:avLst/>
          </a:prstGeom>
          <a:solidFill>
            <a:srgbClr val="E11D48"/>
          </a:solidFill>
          <a:ln>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1783080"/>
            <a:ext cx="2542032" cy="457200"/>
          </a:xfrm>
          <a:prstGeom prst="rect">
            <a:avLst/>
          </a:prstGeom>
          <a:noFill/>
        </p:spPr>
        <p:txBody>
          <a:bodyPr wrap="none" lIns="0" tIns="0" rIns="0" bIns="0">
            <a:spAutoFit/>
          </a:bodyPr>
          <a:lstStyle/>
          <a:p>
            <a:pPr algn="ctr">
              <a:defRPr sz="1400" b="1">
                <a:solidFill>
                  <a:srgbClr val="FFFFFF"/>
                </a:solidFill>
              </a:defRPr>
            </a:pPr>
            <a:r>
              <a:t>CRITICAL</a:t>
            </a:r>
          </a:p>
        </p:txBody>
      </p:sp>
      <p:sp>
        <p:nvSpPr>
          <p:cNvPr id="12" name="TextBox 11"/>
          <p:cNvSpPr txBox="1"/>
          <p:nvPr/>
        </p:nvSpPr>
        <p:spPr>
          <a:xfrm>
            <a:off x="914400" y="2468880"/>
            <a:ext cx="2176272" cy="3474720"/>
          </a:xfrm>
          <a:prstGeom prst="rect">
            <a:avLst/>
          </a:prstGeom>
          <a:noFill/>
        </p:spPr>
        <p:txBody>
          <a:bodyPr wrap="square" lIns="0" tIns="0" rIns="0" bIns="0">
            <a:spAutoFit/>
          </a:bodyPr>
          <a:lstStyle/>
          <a:p>
            <a:pPr>
              <a:spcAft>
                <a:spcPts val="1200"/>
              </a:spcAft>
              <a:defRPr sz="900" b="1">
                <a:solidFill>
                  <a:srgbClr val="E11D48"/>
                </a:solidFill>
              </a:defRPr>
            </a:pPr>
            <a:r>
              <a:t>SYSTEMIC OR PARTNER FAILURES</a:t>
            </a:r>
          </a:p>
          <a:p>
            <a:pPr>
              <a:lnSpc>
                <a:spcPct val="115000"/>
              </a:lnSpc>
              <a:spcAft>
                <a:spcPts val="800"/>
              </a:spcAft>
              <a:defRPr sz="950">
                <a:solidFill>
                  <a:srgbClr val="475569"/>
                </a:solidFill>
              </a:defRPr>
            </a:pPr>
            <a:r>
              <a:t>• Documented: BANK_TIMEOUT</a:t>
            </a:r>
          </a:p>
          <a:p>
            <a:pPr>
              <a:lnSpc>
                <a:spcPct val="115000"/>
              </a:lnSpc>
              <a:spcAft>
                <a:spcPts val="800"/>
              </a:spcAft>
              <a:defRPr sz="950">
                <a:solidFill>
                  <a:srgbClr val="475569"/>
                </a:solidFill>
              </a:defRPr>
            </a:pPr>
            <a:r>
              <a:t>• Documented: AUTH_FAILED</a:t>
            </a:r>
          </a:p>
          <a:p>
            <a:pPr>
              <a:lnSpc>
                <a:spcPct val="115000"/>
              </a:lnSpc>
              <a:spcAft>
                <a:spcPts val="800"/>
              </a:spcAft>
              <a:defRPr sz="950">
                <a:solidFill>
                  <a:srgbClr val="475569"/>
                </a:solidFill>
              </a:defRPr>
            </a:pPr>
            <a:r>
              <a:t>• Impact: Core banking partner unresponsive or security signature failure.</a:t>
            </a:r>
          </a:p>
          <a:p>
            <a:pPr>
              <a:lnSpc>
                <a:spcPct val="115000"/>
              </a:lnSpc>
              <a:spcAft>
                <a:spcPts val="800"/>
              </a:spcAft>
              <a:defRPr sz="950">
                <a:solidFill>
                  <a:srgbClr val="475569"/>
                </a:solidFill>
              </a:defRPr>
            </a:pPr>
            <a:r>
              <a:t>• Action: Immediate alert; requires gateway failover or partner escalation.</a:t>
            </a:r>
          </a:p>
        </p:txBody>
      </p:sp>
      <p:sp>
        <p:nvSpPr>
          <p:cNvPr id="13" name="Rounded Rectangle 12"/>
          <p:cNvSpPr/>
          <p:nvPr/>
        </p:nvSpPr>
        <p:spPr>
          <a:xfrm>
            <a:off x="3474720" y="1645920"/>
            <a:ext cx="2542032" cy="4480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474720" y="1645920"/>
            <a:ext cx="2542032" cy="685800"/>
          </a:xfrm>
          <a:prstGeom prst="rect">
            <a:avLst/>
          </a:prstGeom>
          <a:solidFill>
            <a:srgbClr val="EA580C"/>
          </a:solidFill>
          <a:ln>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474720" y="1783080"/>
            <a:ext cx="2542032" cy="457200"/>
          </a:xfrm>
          <a:prstGeom prst="rect">
            <a:avLst/>
          </a:prstGeom>
          <a:noFill/>
        </p:spPr>
        <p:txBody>
          <a:bodyPr wrap="none" lIns="0" tIns="0" rIns="0" bIns="0">
            <a:spAutoFit/>
          </a:bodyPr>
          <a:lstStyle/>
          <a:p>
            <a:pPr algn="ctr">
              <a:defRPr sz="1400" b="1">
                <a:solidFill>
                  <a:srgbClr val="FFFFFF"/>
                </a:solidFill>
              </a:defRPr>
            </a:pPr>
            <a:r>
              <a:t>HIGH</a:t>
            </a:r>
          </a:p>
        </p:txBody>
      </p:sp>
      <p:sp>
        <p:nvSpPr>
          <p:cNvPr id="16" name="TextBox 15"/>
          <p:cNvSpPr txBox="1"/>
          <p:nvPr/>
        </p:nvSpPr>
        <p:spPr>
          <a:xfrm>
            <a:off x="3657600" y="2468880"/>
            <a:ext cx="2176272" cy="3474720"/>
          </a:xfrm>
          <a:prstGeom prst="rect">
            <a:avLst/>
          </a:prstGeom>
          <a:noFill/>
        </p:spPr>
        <p:txBody>
          <a:bodyPr wrap="square" lIns="0" tIns="0" rIns="0" bIns="0">
            <a:spAutoFit/>
          </a:bodyPr>
          <a:lstStyle/>
          <a:p>
            <a:pPr>
              <a:spcAft>
                <a:spcPts val="1200"/>
              </a:spcAft>
              <a:defRPr sz="900" b="1">
                <a:solidFill>
                  <a:srgbClr val="EA580C"/>
                </a:solidFill>
              </a:defRPr>
            </a:pPr>
            <a:r>
              <a:t>FINANCIAL &amp; SECURITY BREACHES</a:t>
            </a:r>
          </a:p>
          <a:p>
            <a:pPr>
              <a:lnSpc>
                <a:spcPct val="115000"/>
              </a:lnSpc>
              <a:spcAft>
                <a:spcPts val="800"/>
              </a:spcAft>
              <a:defRPr sz="950">
                <a:solidFill>
                  <a:srgbClr val="475569"/>
                </a:solidFill>
              </a:defRPr>
            </a:pPr>
            <a:r>
              <a:t>• Documented: INSUFFICIENT_FUNDS</a:t>
            </a:r>
          </a:p>
          <a:p>
            <a:pPr>
              <a:lnSpc>
                <a:spcPct val="115000"/>
              </a:lnSpc>
              <a:spcAft>
                <a:spcPts val="800"/>
              </a:spcAft>
              <a:defRPr sz="950">
                <a:solidFill>
                  <a:srgbClr val="475569"/>
                </a:solidFill>
              </a:defRPr>
            </a:pPr>
            <a:r>
              <a:t>• Documented: FROZEN_WALLET</a:t>
            </a:r>
          </a:p>
          <a:p>
            <a:pPr>
              <a:lnSpc>
                <a:spcPct val="115000"/>
              </a:lnSpc>
              <a:spcAft>
                <a:spcPts val="800"/>
              </a:spcAft>
              <a:defRPr sz="950">
                <a:solidFill>
                  <a:srgbClr val="475569"/>
                </a:solidFill>
              </a:defRPr>
            </a:pPr>
            <a:r>
              <a:t>• Documented: DUPLICATE_TXN / NETWORK_ERROR</a:t>
            </a:r>
          </a:p>
          <a:p>
            <a:pPr>
              <a:lnSpc>
                <a:spcPct val="115000"/>
              </a:lnSpc>
              <a:spcAft>
                <a:spcPts val="800"/>
              </a:spcAft>
              <a:defRPr sz="950">
                <a:solidFill>
                  <a:srgbClr val="475569"/>
                </a:solidFill>
              </a:defRPr>
            </a:pPr>
            <a:r>
              <a:t>• Impact: Customer attempts overdrawing balance or accessing frozen wallet.</a:t>
            </a:r>
          </a:p>
          <a:p>
            <a:pPr>
              <a:lnSpc>
                <a:spcPct val="115000"/>
              </a:lnSpc>
              <a:spcAft>
                <a:spcPts val="800"/>
              </a:spcAft>
              <a:defRPr sz="950">
                <a:solidFill>
                  <a:srgbClr val="475569"/>
                </a:solidFill>
              </a:defRPr>
            </a:pPr>
            <a:r>
              <a:t>• Action: Auto-blocks transfer; logged for audit review.</a:t>
            </a:r>
          </a:p>
        </p:txBody>
      </p:sp>
      <p:sp>
        <p:nvSpPr>
          <p:cNvPr id="17" name="Rounded Rectangle 16"/>
          <p:cNvSpPr/>
          <p:nvPr/>
        </p:nvSpPr>
        <p:spPr>
          <a:xfrm>
            <a:off x="6217920" y="1645920"/>
            <a:ext cx="2542032" cy="4480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17920" y="1645920"/>
            <a:ext cx="2542032" cy="685800"/>
          </a:xfrm>
          <a:prstGeom prst="rect">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217920" y="1783080"/>
            <a:ext cx="2542032" cy="457200"/>
          </a:xfrm>
          <a:prstGeom prst="rect">
            <a:avLst/>
          </a:prstGeom>
          <a:noFill/>
        </p:spPr>
        <p:txBody>
          <a:bodyPr wrap="none" lIns="0" tIns="0" rIns="0" bIns="0">
            <a:spAutoFit/>
          </a:bodyPr>
          <a:lstStyle/>
          <a:p>
            <a:pPr algn="ctr">
              <a:defRPr sz="1400" b="1">
                <a:solidFill>
                  <a:srgbClr val="FFFFFF"/>
                </a:solidFill>
              </a:defRPr>
            </a:pPr>
            <a:r>
              <a:t>MEDIUM</a:t>
            </a:r>
          </a:p>
        </p:txBody>
      </p:sp>
      <p:sp>
        <p:nvSpPr>
          <p:cNvPr id="20" name="TextBox 19"/>
          <p:cNvSpPr txBox="1"/>
          <p:nvPr/>
        </p:nvSpPr>
        <p:spPr>
          <a:xfrm>
            <a:off x="6400800" y="2468880"/>
            <a:ext cx="2176272" cy="3474720"/>
          </a:xfrm>
          <a:prstGeom prst="rect">
            <a:avLst/>
          </a:prstGeom>
          <a:noFill/>
        </p:spPr>
        <p:txBody>
          <a:bodyPr wrap="square" lIns="0" tIns="0" rIns="0" bIns="0">
            <a:spAutoFit/>
          </a:bodyPr>
          <a:lstStyle/>
          <a:p>
            <a:pPr>
              <a:spcAft>
                <a:spcPts val="1200"/>
              </a:spcAft>
              <a:defRPr sz="900" b="1">
                <a:solidFill>
                  <a:srgbClr val="D97706"/>
                </a:solidFill>
              </a:defRPr>
            </a:pPr>
            <a:r>
              <a:t>VALIDATION &amp; LIMIT BREACHES</a:t>
            </a:r>
          </a:p>
          <a:p>
            <a:pPr>
              <a:lnSpc>
                <a:spcPct val="115000"/>
              </a:lnSpc>
              <a:spcAft>
                <a:spcPts val="800"/>
              </a:spcAft>
              <a:defRPr sz="950">
                <a:solidFill>
                  <a:srgbClr val="475569"/>
                </a:solidFill>
              </a:defRPr>
            </a:pPr>
            <a:r>
              <a:t>• Documented: INVALID_ACCOUNT</a:t>
            </a:r>
          </a:p>
          <a:p>
            <a:pPr>
              <a:lnSpc>
                <a:spcPct val="115000"/>
              </a:lnSpc>
              <a:spcAft>
                <a:spcPts val="800"/>
              </a:spcAft>
              <a:defRPr sz="950">
                <a:solidFill>
                  <a:srgbClr val="475569"/>
                </a:solidFill>
              </a:defRPr>
            </a:pPr>
            <a:r>
              <a:t>• Documented: LIMIT_EXCEEDED</a:t>
            </a:r>
          </a:p>
          <a:p>
            <a:pPr>
              <a:lnSpc>
                <a:spcPct val="115000"/>
              </a:lnSpc>
              <a:spcAft>
                <a:spcPts val="800"/>
              </a:spcAft>
              <a:defRPr sz="950">
                <a:solidFill>
                  <a:srgbClr val="475569"/>
                </a:solidFill>
              </a:defRPr>
            </a:pPr>
            <a:r>
              <a:t>• Impact: Destination bank IFSC/account mismatch or daily cap exceeded.</a:t>
            </a:r>
          </a:p>
          <a:p>
            <a:pPr>
              <a:lnSpc>
                <a:spcPct val="115000"/>
              </a:lnSpc>
              <a:spcAft>
                <a:spcPts val="800"/>
              </a:spcAft>
              <a:defRPr sz="950">
                <a:solidFill>
                  <a:srgbClr val="475569"/>
                </a:solidFill>
              </a:defRPr>
            </a:pPr>
            <a:r>
              <a:t>• Action: Client alerted to update beneficiary details.</a:t>
            </a:r>
          </a:p>
        </p:txBody>
      </p:sp>
      <p:sp>
        <p:nvSpPr>
          <p:cNvPr id="21" name="Rounded Rectangle 20"/>
          <p:cNvSpPr/>
          <p:nvPr/>
        </p:nvSpPr>
        <p:spPr>
          <a:xfrm>
            <a:off x="8961120" y="1645920"/>
            <a:ext cx="2542032" cy="4480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961120" y="1645920"/>
            <a:ext cx="2542032" cy="685800"/>
          </a:xfrm>
          <a:prstGeom prst="rect">
            <a:avLst/>
          </a:prstGeom>
          <a:solidFill>
            <a:srgbClr val="64748B"/>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961120" y="1783080"/>
            <a:ext cx="2542032" cy="457200"/>
          </a:xfrm>
          <a:prstGeom prst="rect">
            <a:avLst/>
          </a:prstGeom>
          <a:noFill/>
        </p:spPr>
        <p:txBody>
          <a:bodyPr wrap="none" lIns="0" tIns="0" rIns="0" bIns="0">
            <a:spAutoFit/>
          </a:bodyPr>
          <a:lstStyle/>
          <a:p>
            <a:pPr algn="ctr">
              <a:defRPr sz="1400" b="1">
                <a:solidFill>
                  <a:srgbClr val="FFFFFF"/>
                </a:solidFill>
              </a:defRPr>
            </a:pPr>
            <a:r>
              <a:t>LOW</a:t>
            </a:r>
          </a:p>
        </p:txBody>
      </p:sp>
      <p:sp>
        <p:nvSpPr>
          <p:cNvPr id="24" name="TextBox 23"/>
          <p:cNvSpPr txBox="1"/>
          <p:nvPr/>
        </p:nvSpPr>
        <p:spPr>
          <a:xfrm>
            <a:off x="9144000" y="2468880"/>
            <a:ext cx="2176272" cy="3474720"/>
          </a:xfrm>
          <a:prstGeom prst="rect">
            <a:avLst/>
          </a:prstGeom>
          <a:noFill/>
        </p:spPr>
        <p:txBody>
          <a:bodyPr wrap="square" lIns="0" tIns="0" rIns="0" bIns="0">
            <a:spAutoFit/>
          </a:bodyPr>
          <a:lstStyle/>
          <a:p>
            <a:pPr>
              <a:spcAft>
                <a:spcPts val="1200"/>
              </a:spcAft>
              <a:defRPr sz="900" b="1">
                <a:solidFill>
                  <a:srgbClr val="64748B"/>
                </a:solidFill>
              </a:defRPr>
            </a:pPr>
            <a:r>
              <a:t>INFORMATIONAL WARNINGS</a:t>
            </a:r>
          </a:p>
          <a:p>
            <a:pPr>
              <a:lnSpc>
                <a:spcPct val="115000"/>
              </a:lnSpc>
              <a:spcAft>
                <a:spcPts val="800"/>
              </a:spcAft>
              <a:defRPr sz="950">
                <a:solidFill>
                  <a:srgbClr val="475569"/>
                </a:solidFill>
              </a:defRPr>
            </a:pPr>
            <a:r>
              <a:t>• Documented: Informational / Minor Warnings</a:t>
            </a:r>
          </a:p>
          <a:p>
            <a:pPr>
              <a:lnSpc>
                <a:spcPct val="115000"/>
              </a:lnSpc>
              <a:spcAft>
                <a:spcPts val="800"/>
              </a:spcAft>
              <a:defRPr sz="950">
                <a:solidFill>
                  <a:srgbClr val="475569"/>
                </a:solidFill>
              </a:defRPr>
            </a:pPr>
            <a:r>
              <a:t>• Impact: Non-critical anomalies or routine operational notifications.</a:t>
            </a:r>
          </a:p>
          <a:p>
            <a:pPr>
              <a:lnSpc>
                <a:spcPct val="115000"/>
              </a:lnSpc>
              <a:spcAft>
                <a:spcPts val="800"/>
              </a:spcAft>
              <a:defRPr sz="950">
                <a:solidFill>
                  <a:srgbClr val="475569"/>
                </a:solidFill>
              </a:defRPr>
            </a:pPr>
            <a:r>
              <a:t>• Action: Logged for historical telemetry without requiring active triage.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latin typeface="Arial"/>
              </a:defRPr>
            </a:pPr>
            <a:r>
              <a:t>MODULE 06 — ADMIN OPERATIONS, MONITORING &amp; ERROR AUDIT CONSOLE</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111827"/>
                </a:solidFill>
                <a:latin typeface="Arial"/>
              </a:defRPr>
            </a:pPr>
            <a:r>
              <a:t>Pending Transaction Monitoring &amp; Administrative Recovery</a:t>
            </a:r>
          </a:p>
        </p:txBody>
      </p:sp>
      <p:sp>
        <p:nvSpPr>
          <p:cNvPr id="5" name="Rectangle 4"/>
          <p:cNvSpPr/>
          <p:nvPr/>
        </p:nvSpPr>
        <p:spPr>
          <a:xfrm>
            <a:off x="731520" y="1298448"/>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640080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6446520"/>
            <a:ext cx="4276812" cy="276999"/>
          </a:xfrm>
          <a:prstGeom prst="rect">
            <a:avLst/>
          </a:prstGeom>
          <a:noFill/>
        </p:spPr>
        <p:txBody>
          <a:bodyPr wrap="none" lIns="0" tIns="0" rIns="0" bIns="0">
            <a:spAutoFit/>
          </a:bodyPr>
          <a:lstStyle/>
          <a:p>
            <a:pPr>
              <a:defRPr sz="900">
                <a:solidFill>
                  <a:srgbClr val="475569"/>
                </a:solidFill>
                <a:latin typeface="Arial"/>
              </a:defRPr>
            </a:pPr>
            <a:endParaRPr lang="en-US" dirty="0"/>
          </a:p>
          <a:p>
            <a:pPr>
              <a:defRPr sz="900">
                <a:solidFill>
                  <a:srgbClr val="475569"/>
                </a:solidFill>
                <a:latin typeface="Arial"/>
              </a:defRPr>
            </a:pPr>
            <a:r>
              <a:rPr lang="en-US" dirty="0" err="1"/>
              <a:t>PayGate</a:t>
            </a:r>
            <a:r>
              <a:rPr lang="en-US" dirty="0"/>
              <a:t> · Academic Project Evaluation · Module 6: Admin Operations &amp; Error Audit</a:t>
            </a:r>
          </a:p>
        </p:txBody>
      </p:sp>
      <p:sp>
        <p:nvSpPr>
          <p:cNvPr id="9" name="Rounded Rectangle 8"/>
          <p:cNvSpPr/>
          <p:nvPr/>
        </p:nvSpPr>
        <p:spPr>
          <a:xfrm>
            <a:off x="731520" y="1645920"/>
            <a:ext cx="5120640" cy="4480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05840" y="1874519"/>
            <a:ext cx="4572000" cy="3782061"/>
          </a:xfrm>
          <a:prstGeom prst="rect">
            <a:avLst/>
          </a:prstGeom>
          <a:noFill/>
        </p:spPr>
        <p:txBody>
          <a:bodyPr wrap="square" lIns="0" tIns="0" rIns="0" bIns="0">
            <a:spAutoFit/>
          </a:bodyPr>
          <a:lstStyle/>
          <a:p>
            <a:pPr>
              <a:defRPr sz="1000" b="1">
                <a:solidFill>
                  <a:srgbClr val="2563EB"/>
                </a:solidFill>
              </a:defRPr>
            </a:pPr>
            <a:r>
              <a:rPr sz="1600" dirty="0"/>
              <a:t>ADMINISTRATIVE RECOVERY ROLE</a:t>
            </a:r>
          </a:p>
          <a:p>
            <a:pPr>
              <a:spcAft>
                <a:spcPts val="1400"/>
              </a:spcAft>
              <a:defRPr sz="1400" b="1">
                <a:solidFill>
                  <a:srgbClr val="111827"/>
                </a:solidFill>
              </a:defRPr>
            </a:pPr>
            <a:r>
              <a:rPr sz="1600" dirty="0"/>
              <a:t>In-Flight Clearing &amp; Recovery Controls</a:t>
            </a:r>
          </a:p>
          <a:p>
            <a:pPr>
              <a:lnSpc>
                <a:spcPct val="115000"/>
              </a:lnSpc>
              <a:spcAft>
                <a:spcPts val="1000"/>
              </a:spcAft>
              <a:defRPr sz="1000">
                <a:solidFill>
                  <a:srgbClr val="475569"/>
                </a:solidFill>
              </a:defRPr>
            </a:pPr>
            <a:r>
              <a:rPr dirty="0"/>
              <a:t>• </a:t>
            </a:r>
            <a:r>
              <a:rPr sz="1400" dirty="0"/>
              <a:t>In-Flight Transaction Queue: Payments in status: 'pending' indicate active inter-bank clearance or pending OTP verification.</a:t>
            </a:r>
          </a:p>
          <a:p>
            <a:pPr>
              <a:lnSpc>
                <a:spcPct val="115000"/>
              </a:lnSpc>
              <a:spcAft>
                <a:spcPts val="1000"/>
              </a:spcAft>
              <a:defRPr sz="1000">
                <a:solidFill>
                  <a:srgbClr val="475569"/>
                </a:solidFill>
              </a:defRPr>
            </a:pPr>
            <a:r>
              <a:rPr sz="1400" dirty="0"/>
              <a:t>• Gateway Time-to-Live (TTL): Tracks elapsed time against a maximum 30-minute threshold. Flags transactions nearing timeout in amber/red.</a:t>
            </a:r>
          </a:p>
          <a:p>
            <a:pPr>
              <a:lnSpc>
                <a:spcPct val="115000"/>
              </a:lnSpc>
              <a:spcAft>
                <a:spcPts val="1000"/>
              </a:spcAft>
              <a:defRPr sz="1000">
                <a:solidFill>
                  <a:srgbClr val="475569"/>
                </a:solidFill>
              </a:defRPr>
            </a:pPr>
            <a:r>
              <a:rPr sz="1400" dirty="0"/>
              <a:t>• Manual Settlement Simulation: Allows authorized operators to confirm settlement if the external banking acknowledgment was delayed.</a:t>
            </a:r>
          </a:p>
          <a:p>
            <a:pPr>
              <a:lnSpc>
                <a:spcPct val="115000"/>
              </a:lnSpc>
              <a:spcAft>
                <a:spcPts val="1000"/>
              </a:spcAft>
              <a:defRPr sz="1000">
                <a:solidFill>
                  <a:srgbClr val="475569"/>
                </a:solidFill>
              </a:defRPr>
            </a:pPr>
            <a:r>
              <a:rPr sz="1400" dirty="0"/>
              <a:t>• Defensive Cancellation: Allows operators to cancel stalled transactions, safely unlocking reserved customer funds.</a:t>
            </a:r>
          </a:p>
        </p:txBody>
      </p:sp>
      <p:sp>
        <p:nvSpPr>
          <p:cNvPr id="11" name="Rounded Rectangle 10"/>
          <p:cNvSpPr/>
          <p:nvPr/>
        </p:nvSpPr>
        <p:spPr>
          <a:xfrm>
            <a:off x="6217920" y="1645920"/>
            <a:ext cx="5242255" cy="4480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92240" y="1874519"/>
            <a:ext cx="4693615" cy="4056239"/>
          </a:xfrm>
          <a:prstGeom prst="rect">
            <a:avLst/>
          </a:prstGeom>
          <a:noFill/>
        </p:spPr>
        <p:txBody>
          <a:bodyPr wrap="square" lIns="0" tIns="0" rIns="0" bIns="0">
            <a:spAutoFit/>
          </a:bodyPr>
          <a:lstStyle/>
          <a:p>
            <a:pPr>
              <a:defRPr sz="1000" b="1">
                <a:solidFill>
                  <a:srgbClr val="0D9488"/>
                </a:solidFill>
              </a:defRPr>
            </a:pPr>
            <a:r>
              <a:rPr sz="1600" dirty="0"/>
              <a:t>OPERATIONAL RESOLUTION WORKFLOW</a:t>
            </a:r>
          </a:p>
          <a:p>
            <a:pPr>
              <a:spcAft>
                <a:spcPts val="1400"/>
              </a:spcAft>
              <a:defRPr sz="1400" b="1">
                <a:solidFill>
                  <a:srgbClr val="111827"/>
                </a:solidFill>
              </a:defRPr>
            </a:pPr>
            <a:r>
              <a:rPr sz="1600" dirty="0"/>
              <a:t>Exact API Endpoints in Codebase</a:t>
            </a:r>
          </a:p>
          <a:p>
            <a:pPr>
              <a:defRPr sz="1100" b="1">
                <a:solidFill>
                  <a:srgbClr val="0D9488"/>
                </a:solidFill>
              </a:defRPr>
            </a:pPr>
            <a:r>
              <a:rPr sz="1600" dirty="0"/>
              <a:t>Action A: Force Settlement (Success)</a:t>
            </a:r>
          </a:p>
          <a:p>
            <a:pPr>
              <a:lnSpc>
                <a:spcPct val="115000"/>
              </a:lnSpc>
              <a:spcAft>
                <a:spcPts val="1000"/>
              </a:spcAft>
              <a:defRPr sz="950">
                <a:solidFill>
                  <a:srgbClr val="475569"/>
                </a:solidFill>
              </a:defRPr>
            </a:pPr>
            <a:r>
              <a:rPr sz="1500" dirty="0"/>
              <a:t>Endpoint: PATCH /</a:t>
            </a:r>
            <a:r>
              <a:rPr sz="1500" dirty="0" err="1"/>
              <a:t>api</a:t>
            </a:r>
            <a:r>
              <a:rPr sz="1500" dirty="0"/>
              <a:t>/admin/transactions/:id/force-success</a:t>
            </a:r>
            <a:br>
              <a:rPr sz="1500" dirty="0"/>
            </a:br>
            <a:r>
              <a:rPr sz="1500" dirty="0"/>
              <a:t>Action: Updates status to 'success', records admin in </a:t>
            </a:r>
            <a:r>
              <a:rPr sz="1500" dirty="0" err="1"/>
              <a:t>resolvedBy</a:t>
            </a:r>
            <a:r>
              <a:rPr sz="1500" dirty="0"/>
              <a:t>, and commits final ledger settlement.</a:t>
            </a:r>
          </a:p>
          <a:p>
            <a:pPr>
              <a:defRPr sz="1100" b="1">
                <a:solidFill>
                  <a:srgbClr val="E11D48"/>
                </a:solidFill>
              </a:defRPr>
            </a:pPr>
            <a:r>
              <a:rPr sz="1600" dirty="0"/>
              <a:t>Action B: Force Failure / Cancel (Terminal State)</a:t>
            </a:r>
          </a:p>
          <a:p>
            <a:pPr>
              <a:lnSpc>
                <a:spcPct val="115000"/>
              </a:lnSpc>
              <a:spcAft>
                <a:spcPts val="1000"/>
              </a:spcAft>
              <a:defRPr sz="950">
                <a:solidFill>
                  <a:srgbClr val="475569"/>
                </a:solidFill>
              </a:defRPr>
            </a:pPr>
            <a:r>
              <a:rPr sz="1500" dirty="0" smtClean="0"/>
              <a:t>Endpoint: PATCH /</a:t>
            </a:r>
            <a:r>
              <a:rPr sz="1500" dirty="0" err="1" smtClean="0"/>
              <a:t>api</a:t>
            </a:r>
            <a:r>
              <a:rPr sz="1500" dirty="0" smtClean="0"/>
              <a:t>/admin/transactions/:id/force-fail</a:t>
            </a:r>
            <a:br>
              <a:rPr sz="1500" dirty="0" smtClean="0"/>
            </a:br>
            <a:r>
              <a:rPr sz="1500" dirty="0" smtClean="0"/>
              <a:t>Action: Updates status to 'failure' with reason 'BANK_TIMEOUT', creates </a:t>
            </a:r>
            <a:r>
              <a:rPr sz="1500" dirty="0" err="1" smtClean="0"/>
              <a:t>ErrorLog</a:t>
            </a:r>
            <a:r>
              <a:rPr sz="1500" dirty="0" smtClean="0"/>
              <a:t>, and halts in-flight hang.</a:t>
            </a:r>
          </a:p>
          <a:p>
            <a:pPr>
              <a:defRPr sz="1100" b="1">
                <a:solidFill>
                  <a:srgbClr val="1E3A8A"/>
                </a:solidFill>
              </a:defRPr>
            </a:pPr>
            <a:r>
              <a:rPr sz="1600" dirty="0" smtClean="0"/>
              <a:t>Action </a:t>
            </a:r>
            <a:r>
              <a:rPr sz="1600" dirty="0"/>
              <a:t>C: Wallet Security Freeze &amp; Account Control</a:t>
            </a:r>
          </a:p>
          <a:p>
            <a:pPr>
              <a:lnSpc>
                <a:spcPct val="115000"/>
              </a:lnSpc>
              <a:spcAft>
                <a:spcPts val="1000"/>
              </a:spcAft>
              <a:defRPr sz="950">
                <a:solidFill>
                  <a:srgbClr val="475569"/>
                </a:solidFill>
              </a:defRPr>
            </a:pPr>
            <a:r>
              <a:rPr sz="1500" dirty="0"/>
              <a:t>Endpoint: PATCH /</a:t>
            </a:r>
            <a:r>
              <a:rPr sz="1500" dirty="0" err="1"/>
              <a:t>api</a:t>
            </a:r>
            <a:r>
              <a:rPr sz="1500" dirty="0"/>
              <a:t>/admin/users/:id/freeze</a:t>
            </a:r>
            <a:br>
              <a:rPr sz="1500" dirty="0"/>
            </a:br>
            <a:r>
              <a:rPr sz="1500" dirty="0"/>
              <a:t>Action: Toggles </a:t>
            </a:r>
            <a:r>
              <a:rPr sz="1500" dirty="0" err="1"/>
              <a:t>wallet.isFrozen</a:t>
            </a:r>
            <a:r>
              <a:rPr sz="1500" dirty="0"/>
              <a:t> instantly, blocking outgoing debits if suspicious activity is identified.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latin typeface="Arial"/>
              </a:defRPr>
            </a:pPr>
            <a:r>
              <a:t>MODULE 06 — ADMIN OPERATIONS, MONITORING &amp; ERROR AUDIT CONSOLE</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111827"/>
                </a:solidFill>
                <a:latin typeface="Arial"/>
              </a:defRPr>
            </a:pPr>
            <a:r>
              <a:t>Conclusion: Architectural Value of the Admin Console</a:t>
            </a:r>
          </a:p>
        </p:txBody>
      </p:sp>
      <p:sp>
        <p:nvSpPr>
          <p:cNvPr id="5" name="Rectangle 4"/>
          <p:cNvSpPr/>
          <p:nvPr/>
        </p:nvSpPr>
        <p:spPr>
          <a:xfrm>
            <a:off x="731520" y="1298448"/>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640080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6446520"/>
            <a:ext cx="4276812" cy="276999"/>
          </a:xfrm>
          <a:prstGeom prst="rect">
            <a:avLst/>
          </a:prstGeom>
          <a:noFill/>
        </p:spPr>
        <p:txBody>
          <a:bodyPr wrap="none" lIns="0" tIns="0" rIns="0" bIns="0">
            <a:spAutoFit/>
          </a:bodyPr>
          <a:lstStyle/>
          <a:p>
            <a:pPr>
              <a:defRPr sz="900">
                <a:solidFill>
                  <a:srgbClr val="475569"/>
                </a:solidFill>
                <a:latin typeface="Arial"/>
              </a:defRPr>
            </a:pPr>
            <a:endParaRPr lang="en-US" dirty="0"/>
          </a:p>
          <a:p>
            <a:pPr>
              <a:defRPr sz="900">
                <a:solidFill>
                  <a:srgbClr val="475569"/>
                </a:solidFill>
                <a:latin typeface="Arial"/>
              </a:defRPr>
            </a:pPr>
            <a:r>
              <a:rPr lang="en-US" dirty="0" err="1"/>
              <a:t>PayGate</a:t>
            </a:r>
            <a:r>
              <a:rPr lang="en-US" dirty="0"/>
              <a:t> · Academic Project Evaluation · Module 6: Admin Operations &amp; Error Audit</a:t>
            </a:r>
          </a:p>
        </p:txBody>
      </p:sp>
      <p:sp>
        <p:nvSpPr>
          <p:cNvPr id="9" name="Rounded Rectangle 8"/>
          <p:cNvSpPr/>
          <p:nvPr/>
        </p:nvSpPr>
        <p:spPr>
          <a:xfrm>
            <a:off x="731520" y="1600200"/>
            <a:ext cx="10728655" cy="804672"/>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31520" y="1600200"/>
            <a:ext cx="109728" cy="804672"/>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05840" y="1691640"/>
            <a:ext cx="10241280" cy="621792"/>
          </a:xfrm>
          <a:prstGeom prst="rect">
            <a:avLst/>
          </a:prstGeom>
          <a:noFill/>
        </p:spPr>
        <p:txBody>
          <a:bodyPr wrap="square" lIns="0" tIns="0" rIns="0" bIns="0">
            <a:spAutoFit/>
          </a:bodyPr>
          <a:lstStyle/>
          <a:p>
            <a:pPr>
              <a:defRPr sz="1150" b="1">
                <a:solidFill>
                  <a:srgbClr val="111827"/>
                </a:solidFill>
              </a:defRPr>
            </a:pPr>
            <a:r>
              <a:t>1. Real-Time Visibility</a:t>
            </a:r>
          </a:p>
          <a:p>
            <a:pPr>
              <a:spcBef>
                <a:spcPts val="200"/>
              </a:spcBef>
              <a:defRPr sz="950">
                <a:solidFill>
                  <a:srgbClr val="475569"/>
                </a:solidFill>
              </a:defRPr>
            </a:pPr>
            <a:r>
              <a:t>Immediate operational telemetry into system-wide volume, success percentages, and database heartbeat every 10 seconds.</a:t>
            </a:r>
          </a:p>
        </p:txBody>
      </p:sp>
      <p:sp>
        <p:nvSpPr>
          <p:cNvPr id="12" name="Rounded Rectangle 11"/>
          <p:cNvSpPr/>
          <p:nvPr/>
        </p:nvSpPr>
        <p:spPr>
          <a:xfrm>
            <a:off x="731520" y="2514600"/>
            <a:ext cx="10728655" cy="804672"/>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31520" y="2514600"/>
            <a:ext cx="109728" cy="80467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05840" y="2606040"/>
            <a:ext cx="10241280" cy="621792"/>
          </a:xfrm>
          <a:prstGeom prst="rect">
            <a:avLst/>
          </a:prstGeom>
          <a:noFill/>
        </p:spPr>
        <p:txBody>
          <a:bodyPr wrap="square" lIns="0" tIns="0" rIns="0" bIns="0">
            <a:spAutoFit/>
          </a:bodyPr>
          <a:lstStyle/>
          <a:p>
            <a:pPr>
              <a:defRPr sz="1150" b="1">
                <a:solidFill>
                  <a:srgbClr val="111827"/>
                </a:solidFill>
              </a:defRPr>
            </a:pPr>
            <a:r>
              <a:t>2. Complete Auditability</a:t>
            </a:r>
          </a:p>
          <a:p>
            <a:pPr>
              <a:spcBef>
                <a:spcPts val="200"/>
              </a:spcBef>
              <a:defRPr sz="950">
                <a:solidFill>
                  <a:srgbClr val="475569"/>
                </a:solidFill>
              </a:defRPr>
            </a:pPr>
            <a:r>
              <a:t>Every financial debit and administrative resolution is permanently anchored in MongoDB with cryptographic reference codes.</a:t>
            </a:r>
          </a:p>
        </p:txBody>
      </p:sp>
      <p:sp>
        <p:nvSpPr>
          <p:cNvPr id="15" name="Rounded Rectangle 14"/>
          <p:cNvSpPr/>
          <p:nvPr/>
        </p:nvSpPr>
        <p:spPr>
          <a:xfrm>
            <a:off x="731520" y="3429000"/>
            <a:ext cx="10728655" cy="804672"/>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31520" y="3429000"/>
            <a:ext cx="109728" cy="804672"/>
          </a:xfrm>
          <a:prstGeom prst="rect">
            <a:avLst/>
          </a:prstGeom>
          <a:solidFill>
            <a:srgbClr val="EA580C"/>
          </a:solidFill>
          <a:ln>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05840" y="3520440"/>
            <a:ext cx="10241280" cy="621792"/>
          </a:xfrm>
          <a:prstGeom prst="rect">
            <a:avLst/>
          </a:prstGeom>
          <a:noFill/>
        </p:spPr>
        <p:txBody>
          <a:bodyPr wrap="square" lIns="0" tIns="0" rIns="0" bIns="0">
            <a:spAutoFit/>
          </a:bodyPr>
          <a:lstStyle/>
          <a:p>
            <a:pPr>
              <a:defRPr sz="1150" b="1">
                <a:solidFill>
                  <a:srgbClr val="111827"/>
                </a:solidFill>
              </a:defRPr>
            </a:pPr>
            <a:r>
              <a:t>3. Error Traceability</a:t>
            </a:r>
          </a:p>
          <a:p>
            <a:pPr>
              <a:spcBef>
                <a:spcPts val="200"/>
              </a:spcBef>
              <a:defRPr sz="950">
                <a:solidFill>
                  <a:srgbClr val="475569"/>
                </a:solidFill>
              </a:defRPr>
            </a:pPr>
            <a:r>
              <a:t>Automated capture of failure reasons into the ErrorLog collection with 4-tier severity triage (LOW to CRITICAL).</a:t>
            </a:r>
          </a:p>
        </p:txBody>
      </p:sp>
      <p:sp>
        <p:nvSpPr>
          <p:cNvPr id="18" name="Rounded Rectangle 17"/>
          <p:cNvSpPr/>
          <p:nvPr/>
        </p:nvSpPr>
        <p:spPr>
          <a:xfrm>
            <a:off x="731520" y="4343400"/>
            <a:ext cx="10728655" cy="804672"/>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31520" y="4343400"/>
            <a:ext cx="109728" cy="804672"/>
          </a:xfrm>
          <a:prstGeom prst="rect">
            <a:avLst/>
          </a:prstGeom>
          <a:solidFill>
            <a:srgbClr val="E11D48"/>
          </a:solidFill>
          <a:ln>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05840" y="4434840"/>
            <a:ext cx="10241280" cy="621792"/>
          </a:xfrm>
          <a:prstGeom prst="rect">
            <a:avLst/>
          </a:prstGeom>
          <a:noFill/>
        </p:spPr>
        <p:txBody>
          <a:bodyPr wrap="square" lIns="0" tIns="0" rIns="0" bIns="0">
            <a:spAutoFit/>
          </a:bodyPr>
          <a:lstStyle/>
          <a:p>
            <a:pPr>
              <a:defRPr sz="1150" b="1">
                <a:solidFill>
                  <a:srgbClr val="111827"/>
                </a:solidFill>
              </a:defRPr>
            </a:pPr>
            <a:r>
              <a:t>4. Operational Control</a:t>
            </a:r>
          </a:p>
          <a:p>
            <a:pPr>
              <a:spcBef>
                <a:spcPts val="200"/>
              </a:spcBef>
              <a:defRPr sz="950">
                <a:solidFill>
                  <a:srgbClr val="475569"/>
                </a:solidFill>
              </a:defRPr>
            </a:pPr>
            <a:r>
              <a:t>Zero-delay wallet freeze kill-switch (PATCH /api/admin/users/:id/freeze) preventing unauthorized balance drains during active security incidents.</a:t>
            </a:r>
          </a:p>
        </p:txBody>
      </p:sp>
      <p:sp>
        <p:nvSpPr>
          <p:cNvPr id="21" name="Rounded Rectangle 20"/>
          <p:cNvSpPr/>
          <p:nvPr/>
        </p:nvSpPr>
        <p:spPr>
          <a:xfrm>
            <a:off x="731520" y="5257800"/>
            <a:ext cx="10728655" cy="804672"/>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731520" y="5257800"/>
            <a:ext cx="109728" cy="804672"/>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05840" y="5349240"/>
            <a:ext cx="10241280" cy="621792"/>
          </a:xfrm>
          <a:prstGeom prst="rect">
            <a:avLst/>
          </a:prstGeom>
          <a:noFill/>
        </p:spPr>
        <p:txBody>
          <a:bodyPr wrap="square" lIns="0" tIns="0" rIns="0" bIns="0">
            <a:spAutoFit/>
          </a:bodyPr>
          <a:lstStyle/>
          <a:p>
            <a:pPr>
              <a:defRPr sz="1150" b="1">
                <a:solidFill>
                  <a:srgbClr val="111827"/>
                </a:solidFill>
              </a:defRPr>
            </a:pPr>
            <a:r>
              <a:t>5. Rapid Recovery Support</a:t>
            </a:r>
          </a:p>
          <a:p>
            <a:pPr>
              <a:spcBef>
                <a:spcPts val="200"/>
              </a:spcBef>
              <a:defRPr sz="950">
                <a:solidFill>
                  <a:srgbClr val="475569"/>
                </a:solidFill>
              </a:defRPr>
            </a:pPr>
            <a:r>
              <a:t>Deterministic pending transaction resolution (force-success / force-fail) preventing stuck payments and eliminating reconciliation overhead.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TotalTime>
  <Words>1999</Words>
  <Application>Microsoft Office PowerPoint</Application>
  <PresentationFormat>Widescreen</PresentationFormat>
  <Paragraphs>203</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dell</cp:lastModifiedBy>
  <cp:revision>9</cp:revision>
  <dcterms:created xsi:type="dcterms:W3CDTF">2013-01-27T09:14:16Z</dcterms:created>
  <dcterms:modified xsi:type="dcterms:W3CDTF">2026-10-07T06:47:13Z</dcterms:modified>
  <cp:category/>
</cp:coreProperties>
</file>